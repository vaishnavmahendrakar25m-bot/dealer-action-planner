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bf24418a7a44a2" /><Relationship Type="http://schemas.openxmlformats.org/officeDocument/2006/relationships/extended-properties" Target="/docProps/app.xml" Id="R02194b267fd742e3" /><Relationship Type="http://schemas.openxmlformats.org/officeDocument/2006/relationships/officeDocument" Target="/ppt/presentation.xml" Id="R8be8f618f2da4ef0" /></Relationships>
</file>

<file path=ppt/presentation.xml><?xml version="1.0" encoding="utf-8"?>
<p:presentation xmlns:p="http://schemas.openxmlformats.org/presentationml/2006/main">
  <p:sldMasterIdLst>
    <p:sldMasterId xmlns:r="http://schemas.openxmlformats.org/officeDocument/2006/relationships" id="2147483648" r:id="R5714e472a71c4f55"/>
  </p:sldMasterIdLst>
  <p:notesMasterIdLst>
    <p:notesMasterId xmlns:r="http://schemas.openxmlformats.org/officeDocument/2006/relationships" r:id="R6856280f31f14b62"/>
  </p:notesMasterIdLst>
  <p:sldIdLst>
    <p:sldId xmlns:r="http://schemas.openxmlformats.org/officeDocument/2006/relationships" id="256" r:id="Rb18d35d3886f4f92"/>
    <p:sldId xmlns:r="http://schemas.openxmlformats.org/officeDocument/2006/relationships" id="257" r:id="R8a27545b7deb453a"/>
    <p:sldId xmlns:r="http://schemas.openxmlformats.org/officeDocument/2006/relationships" id="258" r:id="R03ecc7a1ee9f476c"/>
    <p:sldId xmlns:r="http://schemas.openxmlformats.org/officeDocument/2006/relationships" id="259" r:id="Rf312b777afae4d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aa5ea700ca49d1" /><Relationship Type="http://schemas.openxmlformats.org/officeDocument/2006/relationships/slideMaster" Target="/ppt/slideMasters/slideMaster1.xml" Id="R5714e472a71c4f55" /><Relationship Type="http://schemas.openxmlformats.org/officeDocument/2006/relationships/notesMaster" Target="/ppt/notesMasters/notesMaster1.xml" Id="R6856280f31f14b62" /><Relationship Type="http://schemas.openxmlformats.org/officeDocument/2006/relationships/presProps" Target="/ppt/presProps.xml" Id="R96d867b307164710" /><Relationship Type="http://schemas.openxmlformats.org/officeDocument/2006/relationships/tableStyles" Target="/ppt/tableStyles.xml" Id="R06e3fcc40cd44648" /><Relationship Type="http://schemas.openxmlformats.org/officeDocument/2006/relationships/slide" Target="/ppt/slides/slide1.xml" Id="Rb18d35d3886f4f92" /><Relationship Type="http://schemas.openxmlformats.org/officeDocument/2006/relationships/slide" Target="/ppt/slides/slide2.xml" Id="R8a27545b7deb453a" /><Relationship Type="http://schemas.openxmlformats.org/officeDocument/2006/relationships/slide" Target="/ppt/slides/slide3.xml" Id="R03ecc7a1ee9f476c" /><Relationship Type="http://schemas.openxmlformats.org/officeDocument/2006/relationships/slide" Target="/ppt/slides/slide4.xml" Id="Rf312b777afae4d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01a941cfa948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dfb77d2e0e49ce" /><Relationship Type="http://schemas.openxmlformats.org/officeDocument/2006/relationships/notesMaster" Target="/ppt/notesMasters/notesMaster1.xml" Id="Rf6add5052f5b4a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04bfaa8b6e4a8f" /><Relationship Type="http://schemas.openxmlformats.org/officeDocument/2006/relationships/notesMaster" Target="/ppt/notesMasters/notesMaster1.xml" Id="Ra147e95647534c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433972d1e446c5" /><Relationship Type="http://schemas.openxmlformats.org/officeDocument/2006/relationships/notesMaster" Target="/ppt/notesMasters/notesMaster1.xml" Id="R2440de178ad348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7336251ebb4de3" /><Relationship Type="http://schemas.openxmlformats.org/officeDocument/2006/relationships/notesMaster" Target="/ppt/notesMasters/notesMaster1.xml" Id="Rda2252baf07e4f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 sec. A manufacturer sells through dealers, but sales target performance alone can mislead. A dealer may hit target while overdue payments or old stock rise. Managers have limited time, so the question is which dealers to review, why, and what action to take. We used synthetic data for 30 dealers.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25–50 sec. This is the real app at simulated week 24. Its home view has five business measures, including overdue payments and capital at risk. The manager enters one of two paths: eight dealers in Needs action, or 22 in Doing well. Counts are calculated from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50–90 sec. Needs action has three filters: Clear problems, Hidden risk, and Fix data. Open Sri Venkateshwara Motors. It reaches sales target, yet late payments and aged stock make it urgent. The case exposes the indicators and peer comparison. The suggested finance and inventory review has an owner and due date. Accepting it records the follow-up in My actions. Pattern flags are only patterns worth checking, not accusations.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90–120 sec. Doing well has three direct filters. Better than they look prevents a weak target result being mistaken for a weak dealer when context explains it. Room to grow finds a healthy dealer with low share in a growing market; Stars remain under routine monitoring. The value is a transparent priority queue and accountable follow-up. The key limitation is that this is simulated data with assumed thresholds. We would validate them with real dealer records before operational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981d1b5aef41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ee1161e5f34a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1f75fc0adf4c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4b5dd95d2441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5eb615afad4b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9210bd8b8b45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722F45-2414-46C9-AD77-A7D8D0B40E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564440-0D1F-4E7A-888F-108A86661B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9ED633-9AA3-44C1-8823-757BFFD5E3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F239B5-50B9-4B90-9306-F45F88D8D9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40A54A-6CDB-487D-9C2C-5701D9906E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3DFDA7-5EA4-4739-B1A3-B2759B7E9E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5C0677-3942-4063-8F5B-3826542B3C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CF68D2-84C7-475C-A5EC-7E659A853C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7E0F0-093B-4F62-A385-41F4469324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8F59AC-B684-4D89-9EC3-9C5BC06D84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02ddc6b2624a43" /><Relationship Type="http://schemas.openxmlformats.org/officeDocument/2006/relationships/slideLayout" Target="/ppt/slideLayouts/slideLayout1.xml" Id="R9b3e195a37c74d5e" /><Relationship Type="http://schemas.openxmlformats.org/officeDocument/2006/relationships/slideLayout" Target="/ppt/slideLayouts/slideLayout2.xml" Id="R970b39a058b34a1c" /><Relationship Type="http://schemas.openxmlformats.org/officeDocument/2006/relationships/slideLayout" Target="/ppt/slideLayouts/slideLayout3.xml" Id="Rbd1241367fe44166" /><Relationship Type="http://schemas.openxmlformats.org/officeDocument/2006/relationships/slideLayout" Target="/ppt/slideLayouts/slideLayout4.xml" Id="R93e5fd52d9434324" /><Relationship Type="http://schemas.openxmlformats.org/officeDocument/2006/relationships/slideLayout" Target="/ppt/slideLayouts/slideLayout5.xml" Id="R1ca72ec10af24065" /><Relationship Type="http://schemas.openxmlformats.org/officeDocument/2006/relationships/slideLayout" Target="/ppt/slideLayouts/slideLayout6.xml" Id="Raa07b9dbb3ea4e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3e195a37c74d5e"/>
    <p:sldLayoutId xmlns:r="http://schemas.openxmlformats.org/officeDocument/2006/relationships" id="2147483650" r:id="R970b39a058b34a1c"/>
    <p:sldLayoutId xmlns:r="http://schemas.openxmlformats.org/officeDocument/2006/relationships" id="2147483651" r:id="Rbd1241367fe44166"/>
    <p:sldLayoutId xmlns:r="http://schemas.openxmlformats.org/officeDocument/2006/relationships" id="2147483652" r:id="R93e5fd52d9434324"/>
    <p:sldLayoutId xmlns:r="http://schemas.openxmlformats.org/officeDocument/2006/relationships" id="2147483653" r:id="R1ca72ec10af24065"/>
    <p:sldLayoutId xmlns:r="http://schemas.openxmlformats.org/officeDocument/2006/relationships" id="2147483654" r:id="Raa07b9dbb3ea4e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7513d46e1f42bf" /><Relationship Type="http://schemas.openxmlformats.org/officeDocument/2006/relationships/notesSlide" Target="/ppt/notesSlides/notesSlide1.xml" Id="Rf7ff828db99c45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74ceb963ff41ad" /><Relationship Type="http://schemas.openxmlformats.org/officeDocument/2006/relationships/image" Target="/ppt/media/image.jpeg" Id="Rf92fb2ef2a084799" /><Relationship Type="http://schemas.openxmlformats.org/officeDocument/2006/relationships/notesSlide" Target="/ppt/notesSlides/notesSlide2.xml" Id="R4e46d0c419ea43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91a728ef4b4885" /><Relationship Type="http://schemas.openxmlformats.org/officeDocument/2006/relationships/image" Target="/ppt/media/image2.jpeg" Id="R1d9e18814c0844c3" /><Relationship Type="http://schemas.openxmlformats.org/officeDocument/2006/relationships/notesSlide" Target="/ppt/notesSlides/notesSlide3.xml" Id="Recf1f4cc434f41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fd05fa6190482d" /><Relationship Type="http://schemas.openxmlformats.org/officeDocument/2006/relationships/image" Target="/ppt/media/image3.jpeg" Id="Rc3c46af2e32942b6" /><Relationship Type="http://schemas.openxmlformats.org/officeDocument/2006/relationships/notesSlide" Target="/ppt/notesSlides/notesSlide4.xml" Id="Rf388a490fa324b3b" /></Relationships>
</file>

<file path=ppt/slides/slide1.xml><?xml version="1.0" encoding="utf-8"?>
<p:sld xmlns:p="http://schemas.openxmlformats.org/presentationml/2006/main">
  <p:cSld>
    <p:bg>
      <p:bgPr>
        <a:solidFill xmlns:a="http://schemas.openxmlformats.org/drawingml/2006/main">
          <a:srgbClr val="F6F9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519DBC-A425-4356-B493-15ADCD5E2D20}"/>
              </a:ext>
            </a:extLst>
          </p:cNvPr>
          <p:cNvSpPr>
            <a:spLocks xmlns:a="http://schemas.openxmlformats.org/drawingml/2006/main" noGrp="1"/>
          </p:cNvSpPr>
          <p:nvPr/>
        </p:nvSpPr>
        <p:spPr>
          <a:xfrm xmlns:a="http://schemas.openxmlformats.org/drawingml/2006/main">
            <a:off x="571500" y="3429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D4A"/>
                </a:solidFill>
              </a:defRPr>
            </a:defPPr>
            <a:lvl1pPr>
              <a:defRPr sz="3000" b="1">
                <a:solidFill>
                  <a:srgbClr val="102D4A"/>
                </a:solidFill>
              </a:defRPr>
            </a:lvl1pPr>
            <a:lvl2pPr>
              <a:defRPr sz="3000" b="1">
                <a:solidFill>
                  <a:srgbClr val="102D4A"/>
                </a:solidFill>
              </a:defRPr>
            </a:lvl2pPr>
            <a:lvl3pPr>
              <a:defRPr sz="3000" b="1">
                <a:solidFill>
                  <a:srgbClr val="102D4A"/>
                </a:solidFill>
              </a:defRPr>
            </a:lvl3pPr>
            <a:lvl4pPr>
              <a:defRPr sz="3000" b="1">
                <a:solidFill>
                  <a:srgbClr val="102D4A"/>
                </a:solidFill>
              </a:defRPr>
            </a:lvl4pPr>
            <a:lvl5pPr>
              <a:defRPr sz="3000" b="1">
                <a:solidFill>
                  <a:srgbClr val="102D4A"/>
                </a:solidFill>
              </a:defRPr>
            </a:lvl5pPr>
            <a:lvl6pPr>
              <a:defRPr sz="3000" b="1">
                <a:solidFill>
                  <a:srgbClr val="102D4A"/>
                </a:solidFill>
              </a:defRPr>
            </a:lvl6pPr>
            <a:lvl7pPr>
              <a:defRPr sz="3000" b="1">
                <a:solidFill>
                  <a:srgbClr val="102D4A"/>
                </a:solidFill>
              </a:defRPr>
            </a:lvl7pPr>
            <a:lvl8pPr>
              <a:defRPr sz="3000" b="1">
                <a:solidFill>
                  <a:srgbClr val="102D4A"/>
                </a:solidFill>
              </a:defRPr>
            </a:lvl8pPr>
            <a:lvl9pPr>
              <a:defRPr sz="3000" b="1">
                <a:solidFill>
                  <a:srgbClr val="102D4A"/>
                </a:solidFill>
              </a:defRPr>
            </a:lvl9pPr>
          </a:lstStyle>
          <a:p xmlns:a="http://schemas.openxmlformats.org/drawingml/2006/main">
            <a:pPr>
              <a:defRPr sz="3000" b="1">
                <a:solidFill>
                  <a:srgbClr val="102D4A"/>
                </a:solidFill>
              </a:defRPr>
            </a:pPr>
            <a:r>
              <a:rPr sz="3000" b="1">
                <a:solidFill>
                  <a:srgbClr val="102D4A"/>
                </a:solidFill>
              </a:rPr>
              <a:t>Which dealers need management attention?</a:t>
            </a:r>
          </a:p>
        </p:txBody>
      </p:sp>
      <p:sp>
        <p:nvSpPr>
          <p:cNvPr id="2" name="">
            <a:extLst xmlns:a="http://schemas.openxmlformats.org/drawingml/2006/main">
              <a:ext uri="{FF2B5EF4-FFF2-40B4-BE49-F238E27FC236}">
                <a16:creationId xmlns:a16="http://schemas.microsoft.com/office/drawing/2014/main" id="{ED591A2D-60C5-465C-88D4-C996A3F3FA38}"/>
              </a:ext>
            </a:extLst>
          </p:cNvPr>
          <p:cNvSpPr>
            <a:spLocks xmlns:a="http://schemas.openxmlformats.org/drawingml/2006/main" noGrp="1"/>
          </p:cNvSpPr>
          <p:nvPr/>
        </p:nvSpPr>
        <p:spPr>
          <a:xfrm xmlns:a="http://schemas.openxmlformats.org/drawingml/2006/main">
            <a:off x="571500" y="642937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16675"/>
                </a:solidFill>
              </a:defRPr>
            </a:defPPr>
            <a:lvl1pPr>
              <a:defRPr sz="975" b="1">
                <a:solidFill>
                  <a:srgbClr val="516675"/>
                </a:solidFill>
              </a:defRPr>
            </a:lvl1pPr>
            <a:lvl2pPr>
              <a:defRPr sz="975" b="1">
                <a:solidFill>
                  <a:srgbClr val="516675"/>
                </a:solidFill>
              </a:defRPr>
            </a:lvl2pPr>
            <a:lvl3pPr>
              <a:defRPr sz="975" b="1">
                <a:solidFill>
                  <a:srgbClr val="516675"/>
                </a:solidFill>
              </a:defRPr>
            </a:lvl3pPr>
            <a:lvl4pPr>
              <a:defRPr sz="975" b="1">
                <a:solidFill>
                  <a:srgbClr val="516675"/>
                </a:solidFill>
              </a:defRPr>
            </a:lvl4pPr>
            <a:lvl5pPr>
              <a:defRPr sz="975" b="1">
                <a:solidFill>
                  <a:srgbClr val="516675"/>
                </a:solidFill>
              </a:defRPr>
            </a:lvl5pPr>
            <a:lvl6pPr>
              <a:defRPr sz="975" b="1">
                <a:solidFill>
                  <a:srgbClr val="516675"/>
                </a:solidFill>
              </a:defRPr>
            </a:lvl6pPr>
            <a:lvl7pPr>
              <a:defRPr sz="975" b="1">
                <a:solidFill>
                  <a:srgbClr val="516675"/>
                </a:solidFill>
              </a:defRPr>
            </a:lvl7pPr>
            <a:lvl8pPr>
              <a:defRPr sz="975" b="1">
                <a:solidFill>
                  <a:srgbClr val="516675"/>
                </a:solidFill>
              </a:defRPr>
            </a:lvl8pPr>
            <a:lvl9pPr>
              <a:defRPr sz="975" b="1">
                <a:solidFill>
                  <a:srgbClr val="516675"/>
                </a:solidFill>
              </a:defRPr>
            </a:lvl9pPr>
          </a:lstStyle>
          <a:p xmlns:a="http://schemas.openxmlformats.org/drawingml/2006/main">
            <a:pPr>
              <a:defRPr sz="975" b="1">
                <a:solidFill>
                  <a:srgbClr val="516675"/>
                </a:solidFill>
              </a:defRPr>
            </a:pPr>
            <a:r>
              <a:rPr sz="975" b="1">
                <a:solidFill>
                  <a:srgbClr val="516675"/>
                </a:solidFill>
              </a:rPr>
              <a:t>DEALER ACTION PLANNER   •   SIMULATED DATA                                      1 / 4</a:t>
            </a:r>
          </a:p>
        </p:txBody>
      </p:sp>
      <p:sp>
        <p:nvSpPr>
          <p:cNvPr id="3" name="">
            <a:extLst xmlns:a="http://schemas.openxmlformats.org/drawingml/2006/main">
              <a:ext uri="{FF2B5EF4-FFF2-40B4-BE49-F238E27FC236}">
                <a16:creationId xmlns:a16="http://schemas.microsoft.com/office/drawing/2014/main" id="{08068580-A5B5-4D2B-B458-89E7CD54E312}"/>
              </a:ext>
            </a:extLst>
          </p:cNvPr>
          <p:cNvSpPr>
            <a:spLocks xmlns:a="http://schemas.openxmlformats.org/drawingml/2006/main" noGrp="1"/>
          </p:cNvSpPr>
          <p:nvPr/>
        </p:nvSpPr>
        <p:spPr>
          <a:xfrm xmlns:a="http://schemas.openxmlformats.org/drawingml/2006/main">
            <a:off x="571500" y="1428750"/>
            <a:ext cx="1085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92B37"/>
                </a:solidFill>
              </a:defRPr>
            </a:defPPr>
            <a:lvl1pPr>
              <a:defRPr sz="2250" b="1">
                <a:solidFill>
                  <a:srgbClr val="192B37"/>
                </a:solidFill>
              </a:defRPr>
            </a:lvl1pPr>
            <a:lvl2pPr>
              <a:defRPr sz="2250" b="1">
                <a:solidFill>
                  <a:srgbClr val="192B37"/>
                </a:solidFill>
              </a:defRPr>
            </a:lvl2pPr>
            <a:lvl3pPr>
              <a:defRPr sz="2250" b="1">
                <a:solidFill>
                  <a:srgbClr val="192B37"/>
                </a:solidFill>
              </a:defRPr>
            </a:lvl3pPr>
            <a:lvl4pPr>
              <a:defRPr sz="2250" b="1">
                <a:solidFill>
                  <a:srgbClr val="192B37"/>
                </a:solidFill>
              </a:defRPr>
            </a:lvl4pPr>
            <a:lvl5pPr>
              <a:defRPr sz="2250" b="1">
                <a:solidFill>
                  <a:srgbClr val="192B37"/>
                </a:solidFill>
              </a:defRPr>
            </a:lvl5pPr>
            <a:lvl6pPr>
              <a:defRPr sz="2250" b="1">
                <a:solidFill>
                  <a:srgbClr val="192B37"/>
                </a:solidFill>
              </a:defRPr>
            </a:lvl6pPr>
            <a:lvl7pPr>
              <a:defRPr sz="2250" b="1">
                <a:solidFill>
                  <a:srgbClr val="192B37"/>
                </a:solidFill>
              </a:defRPr>
            </a:lvl7pPr>
            <a:lvl8pPr>
              <a:defRPr sz="2250" b="1">
                <a:solidFill>
                  <a:srgbClr val="192B37"/>
                </a:solidFill>
              </a:defRPr>
            </a:lvl8pPr>
            <a:lvl9pPr>
              <a:defRPr sz="2250" b="1">
                <a:solidFill>
                  <a:srgbClr val="192B37"/>
                </a:solidFill>
              </a:defRPr>
            </a:lvl9pPr>
          </a:lstStyle>
          <a:p xmlns:a="http://schemas.openxmlformats.org/drawingml/2006/main">
            <a:pPr>
              <a:defRPr sz="2250" b="1">
                <a:solidFill>
                  <a:srgbClr val="192B37"/>
                </a:solidFill>
              </a:defRPr>
            </a:pPr>
            <a:r>
              <a:rPr sz="2250" b="1">
                <a:solidFill>
                  <a:srgbClr val="192B37"/>
                </a:solidFill>
              </a:rPr>
              <a:t>Sales alone can hide rising stock, late payments and service concerns.</a:t>
            </a:r>
          </a:p>
        </p:txBody>
      </p:sp>
      <p:sp>
        <p:nvSpPr>
          <p:cNvPr id="4" name="">
            <a:extLst xmlns:a="http://schemas.openxmlformats.org/drawingml/2006/main">
              <a:ext uri="{FF2B5EF4-FFF2-40B4-BE49-F238E27FC236}">
                <a16:creationId xmlns:a16="http://schemas.microsoft.com/office/drawing/2014/main" id="{BAF312B8-3C5F-4806-807D-246E5DCEE7D9}"/>
              </a:ext>
            </a:extLst>
          </p:cNvPr>
          <p:cNvSpPr>
            <a:spLocks xmlns:a="http://schemas.openxmlformats.org/drawingml/2006/main" noGrp="1"/>
          </p:cNvSpPr>
          <p:nvPr/>
        </p:nvSpPr>
        <p:spPr>
          <a:xfrm xmlns:a="http://schemas.openxmlformats.org/drawingml/2006/main">
            <a:off x="571500" y="2714625"/>
            <a:ext cx="876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92B37"/>
                </a:solidFill>
              </a:defRPr>
            </a:defPPr>
            <a:lvl1pPr>
              <a:defRPr sz="2100" b="0">
                <a:solidFill>
                  <a:srgbClr val="192B37"/>
                </a:solidFill>
              </a:defRPr>
            </a:lvl1pPr>
            <a:lvl2pPr>
              <a:defRPr sz="2100" b="0">
                <a:solidFill>
                  <a:srgbClr val="192B37"/>
                </a:solidFill>
              </a:defRPr>
            </a:lvl2pPr>
            <a:lvl3pPr>
              <a:defRPr sz="2100" b="0">
                <a:solidFill>
                  <a:srgbClr val="192B37"/>
                </a:solidFill>
              </a:defRPr>
            </a:lvl3pPr>
            <a:lvl4pPr>
              <a:defRPr sz="2100" b="0">
                <a:solidFill>
                  <a:srgbClr val="192B37"/>
                </a:solidFill>
              </a:defRPr>
            </a:lvl4pPr>
            <a:lvl5pPr>
              <a:defRPr sz="2100" b="0">
                <a:solidFill>
                  <a:srgbClr val="192B37"/>
                </a:solidFill>
              </a:defRPr>
            </a:lvl5pPr>
            <a:lvl6pPr>
              <a:defRPr sz="2100" b="0">
                <a:solidFill>
                  <a:srgbClr val="192B37"/>
                </a:solidFill>
              </a:defRPr>
            </a:lvl6pPr>
            <a:lvl7pPr>
              <a:defRPr sz="2100" b="0">
                <a:solidFill>
                  <a:srgbClr val="192B37"/>
                </a:solidFill>
              </a:defRPr>
            </a:lvl7pPr>
            <a:lvl8pPr>
              <a:defRPr sz="2100" b="0">
                <a:solidFill>
                  <a:srgbClr val="192B37"/>
                </a:solidFill>
              </a:defRPr>
            </a:lvl8pPr>
            <a:lvl9pPr>
              <a:defRPr sz="2100" b="0">
                <a:solidFill>
                  <a:srgbClr val="192B37"/>
                </a:solidFill>
              </a:defRPr>
            </a:lvl9pPr>
          </a:lstStyle>
          <a:p xmlns:a="http://schemas.openxmlformats.org/drawingml/2006/main">
            <a:pPr>
              <a:defRPr sz="2100" b="0">
                <a:solidFill>
                  <a:srgbClr val="192B37"/>
                </a:solidFill>
              </a:defRPr>
            </a:pPr>
            <a:r>
              <a:rPr sz="2100" b="0">
                <a:solidFill>
                  <a:srgbClr val="192B37"/>
                </a:solidFill>
              </a:rPr>
              <a:t>Regional managers need a clear answer: who needs attention, why, and what should happen next.</a:t>
            </a:r>
          </a:p>
        </p:txBody>
      </p:sp>
      <p:sp>
        <p:nvSpPr>
          <p:cNvPr id="5" name="">
            <a:extLst xmlns:a="http://schemas.openxmlformats.org/drawingml/2006/main">
              <a:ext uri="{FF2B5EF4-FFF2-40B4-BE49-F238E27FC236}">
                <a16:creationId xmlns:a16="http://schemas.microsoft.com/office/drawing/2014/main" id="{B5A2A6DD-C3D1-48A0-A5E8-B0B3AC3F5B6A}"/>
              </a:ext>
            </a:extLst>
          </p:cNvPr>
          <p:cNvSpPr>
            <a:spLocks xmlns:a="http://schemas.openxmlformats.org/drawingml/2006/main" noGrp="1"/>
          </p:cNvSpPr>
          <p:nvPr/>
        </p:nvSpPr>
        <p:spPr>
          <a:xfrm xmlns:a="http://schemas.openxmlformats.org/drawingml/2006/main">
            <a:off x="571500" y="42862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7C82"/>
                </a:solidFill>
              </a:defRPr>
            </a:defPPr>
            <a:lvl1pPr>
              <a:defRPr sz="1875" b="0">
                <a:solidFill>
                  <a:srgbClr val="247C82"/>
                </a:solidFill>
              </a:defRPr>
            </a:lvl1pPr>
            <a:lvl2pPr>
              <a:defRPr sz="1875" b="0">
                <a:solidFill>
                  <a:srgbClr val="247C82"/>
                </a:solidFill>
              </a:defRPr>
            </a:lvl2pPr>
            <a:lvl3pPr>
              <a:defRPr sz="1875" b="0">
                <a:solidFill>
                  <a:srgbClr val="247C82"/>
                </a:solidFill>
              </a:defRPr>
            </a:lvl3pPr>
            <a:lvl4pPr>
              <a:defRPr sz="1875" b="0">
                <a:solidFill>
                  <a:srgbClr val="247C82"/>
                </a:solidFill>
              </a:defRPr>
            </a:lvl4pPr>
            <a:lvl5pPr>
              <a:defRPr sz="1875" b="0">
                <a:solidFill>
                  <a:srgbClr val="247C82"/>
                </a:solidFill>
              </a:defRPr>
            </a:lvl5pPr>
            <a:lvl6pPr>
              <a:defRPr sz="1875" b="0">
                <a:solidFill>
                  <a:srgbClr val="247C82"/>
                </a:solidFill>
              </a:defRPr>
            </a:lvl6pPr>
            <a:lvl7pPr>
              <a:defRPr sz="1875" b="0">
                <a:solidFill>
                  <a:srgbClr val="247C82"/>
                </a:solidFill>
              </a:defRPr>
            </a:lvl7pPr>
            <a:lvl8pPr>
              <a:defRPr sz="1875" b="0">
                <a:solidFill>
                  <a:srgbClr val="247C82"/>
                </a:solidFill>
              </a:defRPr>
            </a:lvl8pPr>
            <a:lvl9pPr>
              <a:defRPr sz="1875" b="0">
                <a:solidFill>
                  <a:srgbClr val="247C82"/>
                </a:solidFill>
              </a:defRPr>
            </a:lvl9pPr>
          </a:lstStyle>
          <a:p xmlns:a="http://schemas.openxmlformats.org/drawingml/2006/main">
            <a:pPr>
              <a:defRPr sz="1875" b="0">
                <a:solidFill>
                  <a:srgbClr val="247C82"/>
                </a:solidFill>
              </a:defRPr>
            </a:pPr>
            <a:r>
              <a:rPr sz="1875" b="0">
                <a:solidFill>
                  <a:srgbClr val="247C82"/>
                </a:solidFill>
              </a:rPr>
              <a:t>Our prototype turns 30 simulated dealer histories into a review queue and a suggested follow-up.</a:t>
            </a:r>
          </a:p>
        </p:txBody>
      </p:sp>
    </p:spTree>
    <p:extLst>
      <p:ext uri="{BB962C8B-B14F-4D97-AF65-F5344CB8AC3E}">
        <p14:creationId xmlns:p14="http://schemas.microsoft.com/office/powerpoint/2010/main" val="1389603170"/>
      </p:ext>
    </p:extLst>
  </p:cSld>
</p:sld>
</file>

<file path=ppt/slides/slide2.xml><?xml version="1.0" encoding="utf-8"?>
<p:sld xmlns:p="http://schemas.openxmlformats.org/presentationml/2006/main">
  <p:cSld>
    <p:bg>
      <p:bgPr>
        <a:solidFill xmlns:a="http://schemas.openxmlformats.org/drawingml/2006/main">
          <a:srgbClr val="F6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CDB091-B7D7-4280-A930-29DCE739ECFB}"/>
              </a:ext>
            </a:extLst>
          </p:cNvPr>
          <p:cNvSpPr>
            <a:spLocks xmlns:a="http://schemas.openxmlformats.org/drawingml/2006/main" noGrp="1"/>
          </p:cNvSpPr>
          <p:nvPr/>
        </p:nvSpPr>
        <p:spPr>
          <a:xfrm xmlns:a="http://schemas.openxmlformats.org/drawingml/2006/main">
            <a:off x="571500" y="3429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D4A"/>
                </a:solidFill>
              </a:defRPr>
            </a:defPPr>
            <a:lvl1pPr>
              <a:defRPr sz="3000" b="1">
                <a:solidFill>
                  <a:srgbClr val="102D4A"/>
                </a:solidFill>
              </a:defRPr>
            </a:lvl1pPr>
            <a:lvl2pPr>
              <a:defRPr sz="3000" b="1">
                <a:solidFill>
                  <a:srgbClr val="102D4A"/>
                </a:solidFill>
              </a:defRPr>
            </a:lvl2pPr>
            <a:lvl3pPr>
              <a:defRPr sz="3000" b="1">
                <a:solidFill>
                  <a:srgbClr val="102D4A"/>
                </a:solidFill>
              </a:defRPr>
            </a:lvl3pPr>
            <a:lvl4pPr>
              <a:defRPr sz="3000" b="1">
                <a:solidFill>
                  <a:srgbClr val="102D4A"/>
                </a:solidFill>
              </a:defRPr>
            </a:lvl4pPr>
            <a:lvl5pPr>
              <a:defRPr sz="3000" b="1">
                <a:solidFill>
                  <a:srgbClr val="102D4A"/>
                </a:solidFill>
              </a:defRPr>
            </a:lvl5pPr>
            <a:lvl6pPr>
              <a:defRPr sz="3000" b="1">
                <a:solidFill>
                  <a:srgbClr val="102D4A"/>
                </a:solidFill>
              </a:defRPr>
            </a:lvl6pPr>
            <a:lvl7pPr>
              <a:defRPr sz="3000" b="1">
                <a:solidFill>
                  <a:srgbClr val="102D4A"/>
                </a:solidFill>
              </a:defRPr>
            </a:lvl7pPr>
            <a:lvl8pPr>
              <a:defRPr sz="3000" b="1">
                <a:solidFill>
                  <a:srgbClr val="102D4A"/>
                </a:solidFill>
              </a:defRPr>
            </a:lvl8pPr>
            <a:lvl9pPr>
              <a:defRPr sz="3000" b="1">
                <a:solidFill>
                  <a:srgbClr val="102D4A"/>
                </a:solidFill>
              </a:defRPr>
            </a:lvl9pPr>
          </a:lstStyle>
          <a:p xmlns:a="http://schemas.openxmlformats.org/drawingml/2006/main">
            <a:pPr>
              <a:defRPr sz="3000" b="1">
                <a:solidFill>
                  <a:srgbClr val="102D4A"/>
                </a:solidFill>
              </a:defRPr>
            </a:pPr>
            <a:r>
              <a:rPr sz="3000" b="1">
                <a:solidFill>
                  <a:srgbClr val="102D4A"/>
                </a:solidFill>
              </a:rPr>
              <a:t>The manager starts with two paths</a:t>
            </a:r>
          </a:p>
        </p:txBody>
      </p:sp>
      <p:sp>
        <p:nvSpPr>
          <p:cNvPr id="2" name="">
            <a:extLst xmlns:a="http://schemas.openxmlformats.org/drawingml/2006/main">
              <a:ext uri="{FF2B5EF4-FFF2-40B4-BE49-F238E27FC236}">
                <a16:creationId xmlns:a16="http://schemas.microsoft.com/office/drawing/2014/main" id="{E15F3908-80CC-4EBB-A976-794BD13E4FC8}"/>
              </a:ext>
            </a:extLst>
          </p:cNvPr>
          <p:cNvSpPr>
            <a:spLocks xmlns:a="http://schemas.openxmlformats.org/drawingml/2006/main" noGrp="1"/>
          </p:cNvSpPr>
          <p:nvPr/>
        </p:nvSpPr>
        <p:spPr>
          <a:xfrm xmlns:a="http://schemas.openxmlformats.org/drawingml/2006/main">
            <a:off x="571500" y="642937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16675"/>
                </a:solidFill>
              </a:defRPr>
            </a:defPPr>
            <a:lvl1pPr>
              <a:defRPr sz="975" b="1">
                <a:solidFill>
                  <a:srgbClr val="516675"/>
                </a:solidFill>
              </a:defRPr>
            </a:lvl1pPr>
            <a:lvl2pPr>
              <a:defRPr sz="975" b="1">
                <a:solidFill>
                  <a:srgbClr val="516675"/>
                </a:solidFill>
              </a:defRPr>
            </a:lvl2pPr>
            <a:lvl3pPr>
              <a:defRPr sz="975" b="1">
                <a:solidFill>
                  <a:srgbClr val="516675"/>
                </a:solidFill>
              </a:defRPr>
            </a:lvl3pPr>
            <a:lvl4pPr>
              <a:defRPr sz="975" b="1">
                <a:solidFill>
                  <a:srgbClr val="516675"/>
                </a:solidFill>
              </a:defRPr>
            </a:lvl4pPr>
            <a:lvl5pPr>
              <a:defRPr sz="975" b="1">
                <a:solidFill>
                  <a:srgbClr val="516675"/>
                </a:solidFill>
              </a:defRPr>
            </a:lvl5pPr>
            <a:lvl6pPr>
              <a:defRPr sz="975" b="1">
                <a:solidFill>
                  <a:srgbClr val="516675"/>
                </a:solidFill>
              </a:defRPr>
            </a:lvl6pPr>
            <a:lvl7pPr>
              <a:defRPr sz="975" b="1">
                <a:solidFill>
                  <a:srgbClr val="516675"/>
                </a:solidFill>
              </a:defRPr>
            </a:lvl7pPr>
            <a:lvl8pPr>
              <a:defRPr sz="975" b="1">
                <a:solidFill>
                  <a:srgbClr val="516675"/>
                </a:solidFill>
              </a:defRPr>
            </a:lvl8pPr>
            <a:lvl9pPr>
              <a:defRPr sz="975" b="1">
                <a:solidFill>
                  <a:srgbClr val="516675"/>
                </a:solidFill>
              </a:defRPr>
            </a:lvl9pPr>
          </a:lstStyle>
          <a:p xmlns:a="http://schemas.openxmlformats.org/drawingml/2006/main">
            <a:pPr>
              <a:defRPr sz="975" b="1">
                <a:solidFill>
                  <a:srgbClr val="516675"/>
                </a:solidFill>
              </a:defRPr>
            </a:pPr>
            <a:r>
              <a:rPr sz="975" b="1">
                <a:solidFill>
                  <a:srgbClr val="516675"/>
                </a:solidFill>
              </a:rPr>
              <a:t>DEALER ACTION PLANNER   •   SIMULATED DATA                                      2 / 4</a:t>
            </a:r>
          </a:p>
        </p:txBody>
      </p:sp>
      <p:sp>
        <p:nvSpPr>
          <p:cNvPr id="3" name="">
            <a:extLst xmlns:a="http://schemas.openxmlformats.org/drawingml/2006/main">
              <a:ext uri="{FF2B5EF4-FFF2-40B4-BE49-F238E27FC236}">
                <a16:creationId xmlns:a16="http://schemas.microsoft.com/office/drawing/2014/main" id="{00CEF050-3909-44F9-8B8D-1B1D3FD3FD74}"/>
              </a:ext>
            </a:extLst>
          </p:cNvPr>
          <p:cNvSpPr>
            <a:spLocks xmlns:a="http://schemas.openxmlformats.org/drawingml/2006/main" noGrp="1"/>
          </p:cNvSpPr>
          <p:nvPr/>
        </p:nvSpPr>
        <p:spPr>
          <a:xfrm xmlns:a="http://schemas.openxmlformats.org/drawingml/2006/main">
            <a:off x="571500" y="1219200"/>
            <a:ext cx="323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247C82"/>
                </a:solidFill>
              </a:defRPr>
            </a:defPPr>
            <a:lvl1pPr>
              <a:defRPr sz="1875" b="1">
                <a:solidFill>
                  <a:srgbClr val="247C82"/>
                </a:solidFill>
              </a:defRPr>
            </a:lvl1pPr>
            <a:lvl2pPr>
              <a:defRPr sz="1875" b="1">
                <a:solidFill>
                  <a:srgbClr val="247C82"/>
                </a:solidFill>
              </a:defRPr>
            </a:lvl2pPr>
            <a:lvl3pPr>
              <a:defRPr sz="1875" b="1">
                <a:solidFill>
                  <a:srgbClr val="247C82"/>
                </a:solidFill>
              </a:defRPr>
            </a:lvl3pPr>
            <a:lvl4pPr>
              <a:defRPr sz="1875" b="1">
                <a:solidFill>
                  <a:srgbClr val="247C82"/>
                </a:solidFill>
              </a:defRPr>
            </a:lvl4pPr>
            <a:lvl5pPr>
              <a:defRPr sz="1875" b="1">
                <a:solidFill>
                  <a:srgbClr val="247C82"/>
                </a:solidFill>
              </a:defRPr>
            </a:lvl5pPr>
            <a:lvl6pPr>
              <a:defRPr sz="1875" b="1">
                <a:solidFill>
                  <a:srgbClr val="247C82"/>
                </a:solidFill>
              </a:defRPr>
            </a:lvl6pPr>
            <a:lvl7pPr>
              <a:defRPr sz="1875" b="1">
                <a:solidFill>
                  <a:srgbClr val="247C82"/>
                </a:solidFill>
              </a:defRPr>
            </a:lvl7pPr>
            <a:lvl8pPr>
              <a:defRPr sz="1875" b="1">
                <a:solidFill>
                  <a:srgbClr val="247C82"/>
                </a:solidFill>
              </a:defRPr>
            </a:lvl8pPr>
            <a:lvl9pPr>
              <a:defRPr sz="1875" b="1">
                <a:solidFill>
                  <a:srgbClr val="247C82"/>
                </a:solidFill>
              </a:defRPr>
            </a:lvl9pPr>
          </a:lstStyle>
          <a:p xmlns:a="http://schemas.openxmlformats.org/drawingml/2006/main">
            <a:pPr>
              <a:defRPr sz="1875" b="1">
                <a:solidFill>
                  <a:srgbClr val="247C82"/>
                </a:solidFill>
              </a:defRPr>
            </a:pPr>
            <a:r>
              <a:rPr sz="1875" b="1">
                <a:solidFill>
                  <a:srgbClr val="247C82"/>
                </a:solidFill>
              </a:rPr>
              <a:t>Week 24 example</a:t>
            </a:r>
          </a:p>
        </p:txBody>
      </p:sp>
      <p:sp>
        <p:nvSpPr>
          <p:cNvPr id="4" name="">
            <a:extLst xmlns:a="http://schemas.openxmlformats.org/drawingml/2006/main">
              <a:ext uri="{FF2B5EF4-FFF2-40B4-BE49-F238E27FC236}">
                <a16:creationId xmlns:a16="http://schemas.microsoft.com/office/drawing/2014/main" id="{9319D8BC-644F-4169-A2FB-2764EB10AE5F}"/>
              </a:ext>
            </a:extLst>
          </p:cNvPr>
          <p:cNvSpPr>
            <a:spLocks xmlns:a="http://schemas.openxmlformats.org/drawingml/2006/main" noGrp="1"/>
          </p:cNvSpPr>
          <p:nvPr/>
        </p:nvSpPr>
        <p:spPr>
          <a:xfrm xmlns:a="http://schemas.openxmlformats.org/drawingml/2006/main">
            <a:off x="571500" y="1952625"/>
            <a:ext cx="3000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102D4A"/>
                </a:solidFill>
              </a:defRPr>
            </a:defPPr>
            <a:lvl1pPr>
              <a:defRPr sz="2250" b="1">
                <a:solidFill>
                  <a:srgbClr val="102D4A"/>
                </a:solidFill>
              </a:defRPr>
            </a:lvl1pPr>
            <a:lvl2pPr>
              <a:defRPr sz="2250" b="1">
                <a:solidFill>
                  <a:srgbClr val="102D4A"/>
                </a:solidFill>
              </a:defRPr>
            </a:lvl2pPr>
            <a:lvl3pPr>
              <a:defRPr sz="2250" b="1">
                <a:solidFill>
                  <a:srgbClr val="102D4A"/>
                </a:solidFill>
              </a:defRPr>
            </a:lvl3pPr>
            <a:lvl4pPr>
              <a:defRPr sz="2250" b="1">
                <a:solidFill>
                  <a:srgbClr val="102D4A"/>
                </a:solidFill>
              </a:defRPr>
            </a:lvl4pPr>
            <a:lvl5pPr>
              <a:defRPr sz="2250" b="1">
                <a:solidFill>
                  <a:srgbClr val="102D4A"/>
                </a:solidFill>
              </a:defRPr>
            </a:lvl5pPr>
            <a:lvl6pPr>
              <a:defRPr sz="2250" b="1">
                <a:solidFill>
                  <a:srgbClr val="102D4A"/>
                </a:solidFill>
              </a:defRPr>
            </a:lvl6pPr>
            <a:lvl7pPr>
              <a:defRPr sz="2250" b="1">
                <a:solidFill>
                  <a:srgbClr val="102D4A"/>
                </a:solidFill>
              </a:defRPr>
            </a:lvl7pPr>
            <a:lvl8pPr>
              <a:defRPr sz="2250" b="1">
                <a:solidFill>
                  <a:srgbClr val="102D4A"/>
                </a:solidFill>
              </a:defRPr>
            </a:lvl8pPr>
            <a:lvl9pPr>
              <a:defRPr sz="2250" b="1">
                <a:solidFill>
                  <a:srgbClr val="102D4A"/>
                </a:solidFill>
              </a:defRPr>
            </a:lvl9pPr>
          </a:lstStyle>
          <a:p xmlns:a="http://schemas.openxmlformats.org/drawingml/2006/main">
            <a:pPr>
              <a:defRPr sz="2250" b="1">
                <a:solidFill>
                  <a:srgbClr val="102D4A"/>
                </a:solidFill>
              </a:defRPr>
            </a:pPr>
            <a:r>
              <a:rPr sz="2250" b="1">
                <a:solidFill>
                  <a:srgbClr val="102D4A"/>
                </a:solidFill>
              </a:rPr>
              <a:t>8 need action</a:t>
            </a:r>
          </a:p>
          <a:p xmlns:a="http://schemas.openxmlformats.org/drawingml/2006/main">
            <a:pPr>
              <a:defRPr sz="2250" b="1">
                <a:solidFill>
                  <a:srgbClr val="102D4A"/>
                </a:solidFill>
              </a:defRPr>
            </a:pPr>
            <a:r>
              <a:rPr sz="2250" b="1">
                <a:solidFill>
                  <a:srgbClr val="102D4A"/>
                </a:solidFill>
              </a:rPr>
              <a:t>22 doing well</a:t>
            </a:r>
          </a:p>
        </p:txBody>
      </p:sp>
      <p:sp>
        <p:nvSpPr>
          <p:cNvPr id="5" name="">
            <a:extLst xmlns:a="http://schemas.openxmlformats.org/drawingml/2006/main">
              <a:ext uri="{FF2B5EF4-FFF2-40B4-BE49-F238E27FC236}">
                <a16:creationId xmlns:a16="http://schemas.microsoft.com/office/drawing/2014/main" id="{65B18FB7-8AE2-494B-906C-F495117DA311}"/>
              </a:ext>
            </a:extLst>
          </p:cNvPr>
          <p:cNvSpPr>
            <a:spLocks xmlns:a="http://schemas.openxmlformats.org/drawingml/2006/main" noGrp="1"/>
          </p:cNvSpPr>
          <p:nvPr/>
        </p:nvSpPr>
        <p:spPr>
          <a:xfrm xmlns:a="http://schemas.openxmlformats.org/drawingml/2006/main">
            <a:off x="571500" y="316230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92B37"/>
                </a:solidFill>
              </a:defRPr>
            </a:defPPr>
            <a:lvl1pPr>
              <a:defRPr sz="1650" b="0">
                <a:solidFill>
                  <a:srgbClr val="192B37"/>
                </a:solidFill>
              </a:defRPr>
            </a:lvl1pPr>
            <a:lvl2pPr>
              <a:defRPr sz="1650" b="0">
                <a:solidFill>
                  <a:srgbClr val="192B37"/>
                </a:solidFill>
              </a:defRPr>
            </a:lvl2pPr>
            <a:lvl3pPr>
              <a:defRPr sz="1650" b="0">
                <a:solidFill>
                  <a:srgbClr val="192B37"/>
                </a:solidFill>
              </a:defRPr>
            </a:lvl3pPr>
            <a:lvl4pPr>
              <a:defRPr sz="1650" b="0">
                <a:solidFill>
                  <a:srgbClr val="192B37"/>
                </a:solidFill>
              </a:defRPr>
            </a:lvl4pPr>
            <a:lvl5pPr>
              <a:defRPr sz="1650" b="0">
                <a:solidFill>
                  <a:srgbClr val="192B37"/>
                </a:solidFill>
              </a:defRPr>
            </a:lvl5pPr>
            <a:lvl6pPr>
              <a:defRPr sz="1650" b="0">
                <a:solidFill>
                  <a:srgbClr val="192B37"/>
                </a:solidFill>
              </a:defRPr>
            </a:lvl6pPr>
            <a:lvl7pPr>
              <a:defRPr sz="1650" b="0">
                <a:solidFill>
                  <a:srgbClr val="192B37"/>
                </a:solidFill>
              </a:defRPr>
            </a:lvl7pPr>
            <a:lvl8pPr>
              <a:defRPr sz="1650" b="0">
                <a:solidFill>
                  <a:srgbClr val="192B37"/>
                </a:solidFill>
              </a:defRPr>
            </a:lvl8pPr>
            <a:lvl9pPr>
              <a:defRPr sz="1650" b="0">
                <a:solidFill>
                  <a:srgbClr val="192B37"/>
                </a:solidFill>
              </a:defRPr>
            </a:lvl9pPr>
          </a:lstStyle>
          <a:p xmlns:a="http://schemas.openxmlformats.org/drawingml/2006/main">
            <a:pPr>
              <a:defRPr sz="1650" b="0">
                <a:solidFill>
                  <a:srgbClr val="192B37"/>
                </a:solidFill>
              </a:defRPr>
            </a:pPr>
            <a:r>
              <a:rPr sz="1650" b="0">
                <a:solidFill>
                  <a:srgbClr val="192B37"/>
                </a:solidFill>
              </a:rPr>
              <a:t>The home view shows the business picture, then sends the manager to either list.</a:t>
            </a:r>
          </a:p>
        </p:txBody>
      </p:sp>
      <p:pic>
        <p:nvPicPr>
          <p:cNvPr id="6" name="">
            <a:extLst xmlns:a="http://schemas.openxmlformats.org/drawingml/2006/main">
              <a:ext uri="{FF2B5EF4-FFF2-40B4-BE49-F238E27FC236}">
                <a16:creationId xmlns:a16="http://schemas.microsoft.com/office/drawing/2014/main" id="{D6767F6F-F8FC-4C0B-89D1-AF2D23A74C76}"/>
              </a:ext>
            </a:extLst>
          </p:cNvPr>
          <p:cNvPicPr>
            <a:picLocks xmlns:a="http://schemas.openxmlformats.org/drawingml/2006/main" noChangeAspect="1"/>
          </p:cNvPicPr>
          <p:nvPr/>
        </p:nvPicPr>
        <p:blipFill>
          <a:blip xmlns:r="http://schemas.openxmlformats.org/officeDocument/2006/relationships" xmlns:a="http://schemas.openxmlformats.org/drawingml/2006/main" r:embed="Rf92fb2ef2a084799"/>
          <a:stretch xmlns:a="http://schemas.openxmlformats.org/drawingml/2006/main"/>
        </p:blipFill>
        <p:spPr>
          <a:xfrm xmlns:a="http://schemas.openxmlformats.org/drawingml/2006/main">
            <a:off x="3905250" y="1289471"/>
            <a:ext cx="7715250" cy="408855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9832968-9B36-4CC0-A81D-2C2B0D8D8FC9}"/>
              </a:ext>
            </a:extLst>
          </p:cNvPr>
          <p:cNvSpPr>
            <a:spLocks xmlns:a="http://schemas.openxmlformats.org/drawingml/2006/main" noGrp="1"/>
          </p:cNvSpPr>
          <p:nvPr/>
        </p:nvSpPr>
        <p:spPr>
          <a:xfrm xmlns:a="http://schemas.openxmlformats.org/drawingml/2006/main">
            <a:off x="3924300" y="5572125"/>
            <a:ext cx="762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247C82"/>
                </a:solidFill>
              </a:defRPr>
            </a:defPPr>
            <a:lvl1pPr>
              <a:defRPr sz="1575" b="1">
                <a:solidFill>
                  <a:srgbClr val="247C82"/>
                </a:solidFill>
              </a:defRPr>
            </a:lvl1pPr>
            <a:lvl2pPr>
              <a:defRPr sz="1575" b="1">
                <a:solidFill>
                  <a:srgbClr val="247C82"/>
                </a:solidFill>
              </a:defRPr>
            </a:lvl2pPr>
            <a:lvl3pPr>
              <a:defRPr sz="1575" b="1">
                <a:solidFill>
                  <a:srgbClr val="247C82"/>
                </a:solidFill>
              </a:defRPr>
            </a:lvl3pPr>
            <a:lvl4pPr>
              <a:defRPr sz="1575" b="1">
                <a:solidFill>
                  <a:srgbClr val="247C82"/>
                </a:solidFill>
              </a:defRPr>
            </a:lvl4pPr>
            <a:lvl5pPr>
              <a:defRPr sz="1575" b="1">
                <a:solidFill>
                  <a:srgbClr val="247C82"/>
                </a:solidFill>
              </a:defRPr>
            </a:lvl5pPr>
            <a:lvl6pPr>
              <a:defRPr sz="1575" b="1">
                <a:solidFill>
                  <a:srgbClr val="247C82"/>
                </a:solidFill>
              </a:defRPr>
            </a:lvl6pPr>
            <a:lvl7pPr>
              <a:defRPr sz="1575" b="1">
                <a:solidFill>
                  <a:srgbClr val="247C82"/>
                </a:solidFill>
              </a:defRPr>
            </a:lvl7pPr>
            <a:lvl8pPr>
              <a:defRPr sz="1575" b="1">
                <a:solidFill>
                  <a:srgbClr val="247C82"/>
                </a:solidFill>
              </a:defRPr>
            </a:lvl8pPr>
            <a:lvl9pPr>
              <a:defRPr sz="1575" b="1">
                <a:solidFill>
                  <a:srgbClr val="247C82"/>
                </a:solidFill>
              </a:defRPr>
            </a:lvl9pPr>
          </a:lstStyle>
          <a:p xmlns:a="http://schemas.openxmlformats.org/drawingml/2006/main">
            <a:pPr>
              <a:defRPr sz="1575" b="1">
                <a:solidFill>
                  <a:srgbClr val="247C82"/>
                </a:solidFill>
              </a:defRPr>
            </a:pPr>
            <a:r>
              <a:rPr sz="1575" b="1">
                <a:solidFill>
                  <a:srgbClr val="247C82"/>
                </a:solidFill>
              </a:rPr>
              <a:t>Actual app: Home → Needs action or Doing well</a:t>
            </a:r>
          </a:p>
        </p:txBody>
      </p:sp>
    </p:spTree>
    <p:extLst>
      <p:ext uri="{BB962C8B-B14F-4D97-AF65-F5344CB8AC3E}">
        <p14:creationId xmlns:p14="http://schemas.microsoft.com/office/powerpoint/2010/main" val="2066706715"/>
      </p:ext>
    </p:extLst>
  </p:cSld>
</p:sld>
</file>

<file path=ppt/slides/slide3.xml><?xml version="1.0" encoding="utf-8"?>
<p:sld xmlns:p="http://schemas.openxmlformats.org/presentationml/2006/main">
  <p:cSld>
    <p:bg>
      <p:bgPr>
        <a:solidFill xmlns:a="http://schemas.openxmlformats.org/drawingml/2006/main">
          <a:srgbClr val="F6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CFF693-07F4-4EA6-81E3-14346CEB4872}"/>
              </a:ext>
            </a:extLst>
          </p:cNvPr>
          <p:cNvSpPr>
            <a:spLocks xmlns:a="http://schemas.openxmlformats.org/drawingml/2006/main" noGrp="1"/>
          </p:cNvSpPr>
          <p:nvPr/>
        </p:nvSpPr>
        <p:spPr>
          <a:xfrm xmlns:a="http://schemas.openxmlformats.org/drawingml/2006/main">
            <a:off x="571500" y="3429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D4A"/>
                </a:solidFill>
              </a:defRPr>
            </a:defPPr>
            <a:lvl1pPr>
              <a:defRPr sz="3000" b="1">
                <a:solidFill>
                  <a:srgbClr val="102D4A"/>
                </a:solidFill>
              </a:defRPr>
            </a:lvl1pPr>
            <a:lvl2pPr>
              <a:defRPr sz="3000" b="1">
                <a:solidFill>
                  <a:srgbClr val="102D4A"/>
                </a:solidFill>
              </a:defRPr>
            </a:lvl2pPr>
            <a:lvl3pPr>
              <a:defRPr sz="3000" b="1">
                <a:solidFill>
                  <a:srgbClr val="102D4A"/>
                </a:solidFill>
              </a:defRPr>
            </a:lvl3pPr>
            <a:lvl4pPr>
              <a:defRPr sz="3000" b="1">
                <a:solidFill>
                  <a:srgbClr val="102D4A"/>
                </a:solidFill>
              </a:defRPr>
            </a:lvl4pPr>
            <a:lvl5pPr>
              <a:defRPr sz="3000" b="1">
                <a:solidFill>
                  <a:srgbClr val="102D4A"/>
                </a:solidFill>
              </a:defRPr>
            </a:lvl5pPr>
            <a:lvl6pPr>
              <a:defRPr sz="3000" b="1">
                <a:solidFill>
                  <a:srgbClr val="102D4A"/>
                </a:solidFill>
              </a:defRPr>
            </a:lvl6pPr>
            <a:lvl7pPr>
              <a:defRPr sz="3000" b="1">
                <a:solidFill>
                  <a:srgbClr val="102D4A"/>
                </a:solidFill>
              </a:defRPr>
            </a:lvl7pPr>
            <a:lvl8pPr>
              <a:defRPr sz="3000" b="1">
                <a:solidFill>
                  <a:srgbClr val="102D4A"/>
                </a:solidFill>
              </a:defRPr>
            </a:lvl8pPr>
            <a:lvl9pPr>
              <a:defRPr sz="3000" b="1">
                <a:solidFill>
                  <a:srgbClr val="102D4A"/>
                </a:solidFill>
              </a:defRPr>
            </a:lvl9pPr>
          </a:lstStyle>
          <a:p xmlns:a="http://schemas.openxmlformats.org/drawingml/2006/main">
            <a:pPr>
              <a:defRPr sz="3000" b="1">
                <a:solidFill>
                  <a:srgbClr val="102D4A"/>
                </a:solidFill>
              </a:defRPr>
            </a:pPr>
            <a:r>
              <a:rPr sz="3000" b="1">
                <a:solidFill>
                  <a:srgbClr val="102D4A"/>
                </a:solidFill>
              </a:rPr>
              <a:t>Needs action leads to an evidence-based plan</a:t>
            </a:r>
          </a:p>
        </p:txBody>
      </p:sp>
      <p:sp>
        <p:nvSpPr>
          <p:cNvPr id="2" name="">
            <a:extLst xmlns:a="http://schemas.openxmlformats.org/drawingml/2006/main">
              <a:ext uri="{FF2B5EF4-FFF2-40B4-BE49-F238E27FC236}">
                <a16:creationId xmlns:a16="http://schemas.microsoft.com/office/drawing/2014/main" id="{1D3F3B38-489E-4FDA-8BEC-1B196347CD80}"/>
              </a:ext>
            </a:extLst>
          </p:cNvPr>
          <p:cNvSpPr>
            <a:spLocks xmlns:a="http://schemas.openxmlformats.org/drawingml/2006/main" noGrp="1"/>
          </p:cNvSpPr>
          <p:nvPr/>
        </p:nvSpPr>
        <p:spPr>
          <a:xfrm xmlns:a="http://schemas.openxmlformats.org/drawingml/2006/main">
            <a:off x="571500" y="642937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16675"/>
                </a:solidFill>
              </a:defRPr>
            </a:defPPr>
            <a:lvl1pPr>
              <a:defRPr sz="975" b="1">
                <a:solidFill>
                  <a:srgbClr val="516675"/>
                </a:solidFill>
              </a:defRPr>
            </a:lvl1pPr>
            <a:lvl2pPr>
              <a:defRPr sz="975" b="1">
                <a:solidFill>
                  <a:srgbClr val="516675"/>
                </a:solidFill>
              </a:defRPr>
            </a:lvl2pPr>
            <a:lvl3pPr>
              <a:defRPr sz="975" b="1">
                <a:solidFill>
                  <a:srgbClr val="516675"/>
                </a:solidFill>
              </a:defRPr>
            </a:lvl3pPr>
            <a:lvl4pPr>
              <a:defRPr sz="975" b="1">
                <a:solidFill>
                  <a:srgbClr val="516675"/>
                </a:solidFill>
              </a:defRPr>
            </a:lvl4pPr>
            <a:lvl5pPr>
              <a:defRPr sz="975" b="1">
                <a:solidFill>
                  <a:srgbClr val="516675"/>
                </a:solidFill>
              </a:defRPr>
            </a:lvl5pPr>
            <a:lvl6pPr>
              <a:defRPr sz="975" b="1">
                <a:solidFill>
                  <a:srgbClr val="516675"/>
                </a:solidFill>
              </a:defRPr>
            </a:lvl6pPr>
            <a:lvl7pPr>
              <a:defRPr sz="975" b="1">
                <a:solidFill>
                  <a:srgbClr val="516675"/>
                </a:solidFill>
              </a:defRPr>
            </a:lvl7pPr>
            <a:lvl8pPr>
              <a:defRPr sz="975" b="1">
                <a:solidFill>
                  <a:srgbClr val="516675"/>
                </a:solidFill>
              </a:defRPr>
            </a:lvl8pPr>
            <a:lvl9pPr>
              <a:defRPr sz="975" b="1">
                <a:solidFill>
                  <a:srgbClr val="516675"/>
                </a:solidFill>
              </a:defRPr>
            </a:lvl9pPr>
          </a:lstStyle>
          <a:p xmlns:a="http://schemas.openxmlformats.org/drawingml/2006/main">
            <a:pPr>
              <a:defRPr sz="975" b="1">
                <a:solidFill>
                  <a:srgbClr val="516675"/>
                </a:solidFill>
              </a:defRPr>
            </a:pPr>
            <a:r>
              <a:rPr sz="975" b="1">
                <a:solidFill>
                  <a:srgbClr val="516675"/>
                </a:solidFill>
              </a:rPr>
              <a:t>DEALER ACTION PLANNER   •   SIMULATED DATA                                      3 / 4</a:t>
            </a:r>
          </a:p>
        </p:txBody>
      </p:sp>
      <p:sp>
        <p:nvSpPr>
          <p:cNvPr id="3" name="">
            <a:extLst xmlns:a="http://schemas.openxmlformats.org/drawingml/2006/main">
              <a:ext uri="{FF2B5EF4-FFF2-40B4-BE49-F238E27FC236}">
                <a16:creationId xmlns:a16="http://schemas.microsoft.com/office/drawing/2014/main" id="{83D05687-2F8B-4AFE-B270-A0350AA846C4}"/>
              </a:ext>
            </a:extLst>
          </p:cNvPr>
          <p:cNvSpPr>
            <a:spLocks xmlns:a="http://schemas.openxmlformats.org/drawingml/2006/main" noGrp="1"/>
          </p:cNvSpPr>
          <p:nvPr/>
        </p:nvSpPr>
        <p:spPr>
          <a:xfrm xmlns:a="http://schemas.openxmlformats.org/drawingml/2006/main">
            <a:off x="571500" y="1257300"/>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02D4A"/>
                </a:solidFill>
              </a:defRPr>
            </a:defPPr>
            <a:lvl1pPr>
              <a:defRPr sz="1950" b="1">
                <a:solidFill>
                  <a:srgbClr val="102D4A"/>
                </a:solidFill>
              </a:defRPr>
            </a:lvl1pPr>
            <a:lvl2pPr>
              <a:defRPr sz="1950" b="1">
                <a:solidFill>
                  <a:srgbClr val="102D4A"/>
                </a:solidFill>
              </a:defRPr>
            </a:lvl2pPr>
            <a:lvl3pPr>
              <a:defRPr sz="1950" b="1">
                <a:solidFill>
                  <a:srgbClr val="102D4A"/>
                </a:solidFill>
              </a:defRPr>
            </a:lvl3pPr>
            <a:lvl4pPr>
              <a:defRPr sz="1950" b="1">
                <a:solidFill>
                  <a:srgbClr val="102D4A"/>
                </a:solidFill>
              </a:defRPr>
            </a:lvl4pPr>
            <a:lvl5pPr>
              <a:defRPr sz="1950" b="1">
                <a:solidFill>
                  <a:srgbClr val="102D4A"/>
                </a:solidFill>
              </a:defRPr>
            </a:lvl5pPr>
            <a:lvl6pPr>
              <a:defRPr sz="1950" b="1">
                <a:solidFill>
                  <a:srgbClr val="102D4A"/>
                </a:solidFill>
              </a:defRPr>
            </a:lvl6pPr>
            <a:lvl7pPr>
              <a:defRPr sz="1950" b="1">
                <a:solidFill>
                  <a:srgbClr val="102D4A"/>
                </a:solidFill>
              </a:defRPr>
            </a:lvl7pPr>
            <a:lvl8pPr>
              <a:defRPr sz="1950" b="1">
                <a:solidFill>
                  <a:srgbClr val="102D4A"/>
                </a:solidFill>
              </a:defRPr>
            </a:lvl8pPr>
            <a:lvl9pPr>
              <a:defRPr sz="1950" b="1">
                <a:solidFill>
                  <a:srgbClr val="102D4A"/>
                </a:solidFill>
              </a:defRPr>
            </a:lvl9pPr>
          </a:lstStyle>
          <a:p xmlns:a="http://schemas.openxmlformats.org/drawingml/2006/main">
            <a:pPr>
              <a:defRPr sz="1950" b="1">
                <a:solidFill>
                  <a:srgbClr val="102D4A"/>
                </a:solidFill>
              </a:defRPr>
            </a:pPr>
            <a:r>
              <a:rPr sz="1950" b="1">
                <a:solidFill>
                  <a:srgbClr val="102D4A"/>
                </a:solidFill>
              </a:rPr>
              <a:t>Clear problems</a:t>
            </a:r>
          </a:p>
          <a:p xmlns:a="http://schemas.openxmlformats.org/drawingml/2006/main">
            <a:pPr>
              <a:defRPr sz="1950" b="1">
                <a:solidFill>
                  <a:srgbClr val="102D4A"/>
                </a:solidFill>
              </a:defRPr>
            </a:pPr>
            <a:r>
              <a:rPr sz="1950" b="1">
                <a:solidFill>
                  <a:srgbClr val="102D4A"/>
                </a:solidFill>
              </a:rPr>
              <a:t>Hidden risk</a:t>
            </a:r>
          </a:p>
          <a:p xmlns:a="http://schemas.openxmlformats.org/drawingml/2006/main">
            <a:pPr>
              <a:defRPr sz="1950" b="1">
                <a:solidFill>
                  <a:srgbClr val="102D4A"/>
                </a:solidFill>
              </a:defRPr>
            </a:pPr>
            <a:r>
              <a:rPr sz="1950" b="1">
                <a:solidFill>
                  <a:srgbClr val="102D4A"/>
                </a:solidFill>
              </a:rPr>
              <a:t>Fix data</a:t>
            </a:r>
          </a:p>
        </p:txBody>
      </p:sp>
      <p:sp>
        <p:nvSpPr>
          <p:cNvPr id="4" name="">
            <a:extLst xmlns:a="http://schemas.openxmlformats.org/drawingml/2006/main">
              <a:ext uri="{FF2B5EF4-FFF2-40B4-BE49-F238E27FC236}">
                <a16:creationId xmlns:a16="http://schemas.microsoft.com/office/drawing/2014/main" id="{A059132C-0432-47EB-B960-B1DE7C9C23A2}"/>
              </a:ext>
            </a:extLst>
          </p:cNvPr>
          <p:cNvSpPr>
            <a:spLocks xmlns:a="http://schemas.openxmlformats.org/drawingml/2006/main" noGrp="1"/>
          </p:cNvSpPr>
          <p:nvPr/>
        </p:nvSpPr>
        <p:spPr>
          <a:xfrm xmlns:a="http://schemas.openxmlformats.org/drawingml/2006/main">
            <a:off x="571500" y="2857500"/>
            <a:ext cx="32861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92B37"/>
                </a:solidFill>
              </a:defRPr>
            </a:defPPr>
            <a:lvl1pPr>
              <a:defRPr sz="1725" b="0">
                <a:solidFill>
                  <a:srgbClr val="192B37"/>
                </a:solidFill>
              </a:defRPr>
            </a:lvl1pPr>
            <a:lvl2pPr>
              <a:defRPr sz="1725" b="0">
                <a:solidFill>
                  <a:srgbClr val="192B37"/>
                </a:solidFill>
              </a:defRPr>
            </a:lvl2pPr>
            <a:lvl3pPr>
              <a:defRPr sz="1725" b="0">
                <a:solidFill>
                  <a:srgbClr val="192B37"/>
                </a:solidFill>
              </a:defRPr>
            </a:lvl3pPr>
            <a:lvl4pPr>
              <a:defRPr sz="1725" b="0">
                <a:solidFill>
                  <a:srgbClr val="192B37"/>
                </a:solidFill>
              </a:defRPr>
            </a:lvl4pPr>
            <a:lvl5pPr>
              <a:defRPr sz="1725" b="0">
                <a:solidFill>
                  <a:srgbClr val="192B37"/>
                </a:solidFill>
              </a:defRPr>
            </a:lvl5pPr>
            <a:lvl6pPr>
              <a:defRPr sz="1725" b="0">
                <a:solidFill>
                  <a:srgbClr val="192B37"/>
                </a:solidFill>
              </a:defRPr>
            </a:lvl6pPr>
            <a:lvl7pPr>
              <a:defRPr sz="1725" b="0">
                <a:solidFill>
                  <a:srgbClr val="192B37"/>
                </a:solidFill>
              </a:defRPr>
            </a:lvl7pPr>
            <a:lvl8pPr>
              <a:defRPr sz="1725" b="0">
                <a:solidFill>
                  <a:srgbClr val="192B37"/>
                </a:solidFill>
              </a:defRPr>
            </a:lvl8pPr>
            <a:lvl9pPr>
              <a:defRPr sz="1725" b="0">
                <a:solidFill>
                  <a:srgbClr val="192B37"/>
                </a:solidFill>
              </a:defRPr>
            </a:lvl9pPr>
          </a:lstStyle>
          <a:p xmlns:a="http://schemas.openxmlformats.org/drawingml/2006/main">
            <a:pPr>
              <a:defRPr sz="1725" b="0">
                <a:solidFill>
                  <a:srgbClr val="192B37"/>
                </a:solidFill>
              </a:defRPr>
            </a:pPr>
            <a:r>
              <a:rPr sz="1725" b="0">
                <a:solidFill>
                  <a:srgbClr val="192B37"/>
                </a:solidFill>
              </a:rPr>
              <a:t>Example: Sri Venkateshwara Motors sells above target, but 22.2% of payments are 30+ days late.</a:t>
            </a:r>
          </a:p>
        </p:txBody>
      </p:sp>
      <p:sp>
        <p:nvSpPr>
          <p:cNvPr id="5" name="">
            <a:extLst xmlns:a="http://schemas.openxmlformats.org/drawingml/2006/main">
              <a:ext uri="{FF2B5EF4-FFF2-40B4-BE49-F238E27FC236}">
                <a16:creationId xmlns:a16="http://schemas.microsoft.com/office/drawing/2014/main" id="{3E1DD084-F706-43C2-8274-2BE718C5372D}"/>
              </a:ext>
            </a:extLst>
          </p:cNvPr>
          <p:cNvSpPr>
            <a:spLocks xmlns:a="http://schemas.openxmlformats.org/drawingml/2006/main" noGrp="1"/>
          </p:cNvSpPr>
          <p:nvPr/>
        </p:nvSpPr>
        <p:spPr>
          <a:xfrm xmlns:a="http://schemas.openxmlformats.org/drawingml/2006/main">
            <a:off x="571500" y="4524375"/>
            <a:ext cx="3286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7C82"/>
                </a:solidFill>
              </a:defRPr>
            </a:defPPr>
            <a:lvl1pPr>
              <a:defRPr sz="1575" b="0">
                <a:solidFill>
                  <a:srgbClr val="247C82"/>
                </a:solidFill>
              </a:defRPr>
            </a:lvl1pPr>
            <a:lvl2pPr>
              <a:defRPr sz="1575" b="0">
                <a:solidFill>
                  <a:srgbClr val="247C82"/>
                </a:solidFill>
              </a:defRPr>
            </a:lvl2pPr>
            <a:lvl3pPr>
              <a:defRPr sz="1575" b="0">
                <a:solidFill>
                  <a:srgbClr val="247C82"/>
                </a:solidFill>
              </a:defRPr>
            </a:lvl3pPr>
            <a:lvl4pPr>
              <a:defRPr sz="1575" b="0">
                <a:solidFill>
                  <a:srgbClr val="247C82"/>
                </a:solidFill>
              </a:defRPr>
            </a:lvl4pPr>
            <a:lvl5pPr>
              <a:defRPr sz="1575" b="0">
                <a:solidFill>
                  <a:srgbClr val="247C82"/>
                </a:solidFill>
              </a:defRPr>
            </a:lvl5pPr>
            <a:lvl6pPr>
              <a:defRPr sz="1575" b="0">
                <a:solidFill>
                  <a:srgbClr val="247C82"/>
                </a:solidFill>
              </a:defRPr>
            </a:lvl6pPr>
            <a:lvl7pPr>
              <a:defRPr sz="1575" b="0">
                <a:solidFill>
                  <a:srgbClr val="247C82"/>
                </a:solidFill>
              </a:defRPr>
            </a:lvl7pPr>
            <a:lvl8pPr>
              <a:defRPr sz="1575" b="0">
                <a:solidFill>
                  <a:srgbClr val="247C82"/>
                </a:solidFill>
              </a:defRPr>
            </a:lvl8pPr>
            <a:lvl9pPr>
              <a:defRPr sz="1575" b="0">
                <a:solidFill>
                  <a:srgbClr val="247C82"/>
                </a:solidFill>
              </a:defRPr>
            </a:lvl9pPr>
          </a:lstStyle>
          <a:p xmlns:a="http://schemas.openxmlformats.org/drawingml/2006/main">
            <a:pPr>
              <a:defRPr sz="1575" b="0">
                <a:solidFill>
                  <a:srgbClr val="247C82"/>
                </a:solidFill>
              </a:defRPr>
            </a:pPr>
            <a:r>
              <a:rPr sz="1575" b="0">
                <a:solidFill>
                  <a:srgbClr val="247C82"/>
                </a:solidFill>
              </a:rPr>
              <a:t>The case shows peer evidence, an urgent status, an owner and a due date.</a:t>
            </a:r>
          </a:p>
        </p:txBody>
      </p:sp>
      <p:pic>
        <p:nvPicPr>
          <p:cNvPr id="6" name="">
            <a:extLst xmlns:a="http://schemas.openxmlformats.org/drawingml/2006/main">
              <a:ext uri="{FF2B5EF4-FFF2-40B4-BE49-F238E27FC236}">
                <a16:creationId xmlns:a16="http://schemas.microsoft.com/office/drawing/2014/main" id="{C06F8F26-439D-4808-BEF3-3E84F270CF5E}"/>
              </a:ext>
            </a:extLst>
          </p:cNvPr>
          <p:cNvPicPr>
            <a:picLocks xmlns:a="http://schemas.openxmlformats.org/drawingml/2006/main" noChangeAspect="1"/>
          </p:cNvPicPr>
          <p:nvPr/>
        </p:nvPicPr>
        <p:blipFill>
          <a:blip xmlns:r="http://schemas.openxmlformats.org/officeDocument/2006/relationships" xmlns:a="http://schemas.openxmlformats.org/drawingml/2006/main" r:embed="R1d9e18814c0844c3"/>
          <a:stretch xmlns:a="http://schemas.openxmlformats.org/drawingml/2006/main"/>
        </p:blipFill>
        <p:spPr>
          <a:xfrm xmlns:a="http://schemas.openxmlformats.org/drawingml/2006/main">
            <a:off x="4143375" y="1292322"/>
            <a:ext cx="7524750" cy="398760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FB5DC9C-3C24-4EF3-871D-EEDE49C71A18}"/>
              </a:ext>
            </a:extLst>
          </p:cNvPr>
          <p:cNvSpPr>
            <a:spLocks xmlns:a="http://schemas.openxmlformats.org/drawingml/2006/main" noGrp="1"/>
          </p:cNvSpPr>
          <p:nvPr/>
        </p:nvSpPr>
        <p:spPr>
          <a:xfrm xmlns:a="http://schemas.openxmlformats.org/drawingml/2006/main">
            <a:off x="4143375" y="5543550"/>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247C82"/>
                </a:solidFill>
              </a:defRPr>
            </a:defPPr>
            <a:lvl1pPr>
              <a:defRPr sz="1575" b="1">
                <a:solidFill>
                  <a:srgbClr val="247C82"/>
                </a:solidFill>
              </a:defRPr>
            </a:lvl1pPr>
            <a:lvl2pPr>
              <a:defRPr sz="1575" b="1">
                <a:solidFill>
                  <a:srgbClr val="247C82"/>
                </a:solidFill>
              </a:defRPr>
            </a:lvl2pPr>
            <a:lvl3pPr>
              <a:defRPr sz="1575" b="1">
                <a:solidFill>
                  <a:srgbClr val="247C82"/>
                </a:solidFill>
              </a:defRPr>
            </a:lvl3pPr>
            <a:lvl4pPr>
              <a:defRPr sz="1575" b="1">
                <a:solidFill>
                  <a:srgbClr val="247C82"/>
                </a:solidFill>
              </a:defRPr>
            </a:lvl4pPr>
            <a:lvl5pPr>
              <a:defRPr sz="1575" b="1">
                <a:solidFill>
                  <a:srgbClr val="247C82"/>
                </a:solidFill>
              </a:defRPr>
            </a:lvl5pPr>
            <a:lvl6pPr>
              <a:defRPr sz="1575" b="1">
                <a:solidFill>
                  <a:srgbClr val="247C82"/>
                </a:solidFill>
              </a:defRPr>
            </a:lvl6pPr>
            <a:lvl7pPr>
              <a:defRPr sz="1575" b="1">
                <a:solidFill>
                  <a:srgbClr val="247C82"/>
                </a:solidFill>
              </a:defRPr>
            </a:lvl7pPr>
            <a:lvl8pPr>
              <a:defRPr sz="1575" b="1">
                <a:solidFill>
                  <a:srgbClr val="247C82"/>
                </a:solidFill>
              </a:defRPr>
            </a:lvl8pPr>
            <a:lvl9pPr>
              <a:defRPr sz="1575" b="1">
                <a:solidFill>
                  <a:srgbClr val="247C82"/>
                </a:solidFill>
              </a:defRPr>
            </a:lvl9pPr>
          </a:lstStyle>
          <a:p xmlns:a="http://schemas.openxmlformats.org/drawingml/2006/main">
            <a:pPr>
              <a:defRPr sz="1575" b="1">
                <a:solidFill>
                  <a:srgbClr val="247C82"/>
                </a:solidFill>
              </a:defRPr>
            </a:pPr>
            <a:r>
              <a:rPr sz="1575" b="1">
                <a:solidFill>
                  <a:srgbClr val="247C82"/>
                </a:solidFill>
              </a:rPr>
              <a:t>Queue → dealer case → accept plan → My actions</a:t>
            </a:r>
          </a:p>
        </p:txBody>
      </p:sp>
    </p:spTree>
    <p:extLst>
      <p:ext uri="{BB962C8B-B14F-4D97-AF65-F5344CB8AC3E}">
        <p14:creationId xmlns:p14="http://schemas.microsoft.com/office/powerpoint/2010/main" val="426608480"/>
      </p:ext>
    </p:extLst>
  </p:cSld>
</p:sld>
</file>

<file path=ppt/slides/slide4.xml><?xml version="1.0" encoding="utf-8"?>
<p:sld xmlns:p="http://schemas.openxmlformats.org/presentationml/2006/main">
  <p:cSld>
    <p:bg>
      <p:bgPr>
        <a:solidFill xmlns:a="http://schemas.openxmlformats.org/drawingml/2006/main">
          <a:srgbClr val="F6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DCA6E9-6851-4E1C-8241-F3897AEF5894}"/>
              </a:ext>
            </a:extLst>
          </p:cNvPr>
          <p:cNvSpPr>
            <a:spLocks xmlns:a="http://schemas.openxmlformats.org/drawingml/2006/main" noGrp="1"/>
          </p:cNvSpPr>
          <p:nvPr/>
        </p:nvSpPr>
        <p:spPr>
          <a:xfrm xmlns:a="http://schemas.openxmlformats.org/drawingml/2006/main">
            <a:off x="571500" y="3429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D4A"/>
                </a:solidFill>
              </a:defRPr>
            </a:defPPr>
            <a:lvl1pPr>
              <a:defRPr sz="3000" b="1">
                <a:solidFill>
                  <a:srgbClr val="102D4A"/>
                </a:solidFill>
              </a:defRPr>
            </a:lvl1pPr>
            <a:lvl2pPr>
              <a:defRPr sz="3000" b="1">
                <a:solidFill>
                  <a:srgbClr val="102D4A"/>
                </a:solidFill>
              </a:defRPr>
            </a:lvl2pPr>
            <a:lvl3pPr>
              <a:defRPr sz="3000" b="1">
                <a:solidFill>
                  <a:srgbClr val="102D4A"/>
                </a:solidFill>
              </a:defRPr>
            </a:lvl3pPr>
            <a:lvl4pPr>
              <a:defRPr sz="3000" b="1">
                <a:solidFill>
                  <a:srgbClr val="102D4A"/>
                </a:solidFill>
              </a:defRPr>
            </a:lvl4pPr>
            <a:lvl5pPr>
              <a:defRPr sz="3000" b="1">
                <a:solidFill>
                  <a:srgbClr val="102D4A"/>
                </a:solidFill>
              </a:defRPr>
            </a:lvl5pPr>
            <a:lvl6pPr>
              <a:defRPr sz="3000" b="1">
                <a:solidFill>
                  <a:srgbClr val="102D4A"/>
                </a:solidFill>
              </a:defRPr>
            </a:lvl6pPr>
            <a:lvl7pPr>
              <a:defRPr sz="3000" b="1">
                <a:solidFill>
                  <a:srgbClr val="102D4A"/>
                </a:solidFill>
              </a:defRPr>
            </a:lvl7pPr>
            <a:lvl8pPr>
              <a:defRPr sz="3000" b="1">
                <a:solidFill>
                  <a:srgbClr val="102D4A"/>
                </a:solidFill>
              </a:defRPr>
            </a:lvl8pPr>
            <a:lvl9pPr>
              <a:defRPr sz="3000" b="1">
                <a:solidFill>
                  <a:srgbClr val="102D4A"/>
                </a:solidFill>
              </a:defRPr>
            </a:lvl9pPr>
          </a:lstStyle>
          <a:p xmlns:a="http://schemas.openxmlformats.org/drawingml/2006/main">
            <a:pPr>
              <a:defRPr sz="3000" b="1">
                <a:solidFill>
                  <a:srgbClr val="102D4A"/>
                </a:solidFill>
              </a:defRPr>
            </a:pPr>
            <a:r>
              <a:rPr sz="3000" b="1">
                <a:solidFill>
                  <a:srgbClr val="102D4A"/>
                </a:solidFill>
              </a:rPr>
              <a:t>Doing well protects good dealers and finds growth</a:t>
            </a:r>
          </a:p>
        </p:txBody>
      </p:sp>
      <p:sp>
        <p:nvSpPr>
          <p:cNvPr id="2" name="">
            <a:extLst xmlns:a="http://schemas.openxmlformats.org/drawingml/2006/main">
              <a:ext uri="{FF2B5EF4-FFF2-40B4-BE49-F238E27FC236}">
                <a16:creationId xmlns:a16="http://schemas.microsoft.com/office/drawing/2014/main" id="{7BE04703-2FAD-4183-A059-987EE52B9C48}"/>
              </a:ext>
            </a:extLst>
          </p:cNvPr>
          <p:cNvSpPr>
            <a:spLocks xmlns:a="http://schemas.openxmlformats.org/drawingml/2006/main" noGrp="1"/>
          </p:cNvSpPr>
          <p:nvPr/>
        </p:nvSpPr>
        <p:spPr>
          <a:xfrm xmlns:a="http://schemas.openxmlformats.org/drawingml/2006/main">
            <a:off x="571500" y="6429375"/>
            <a:ext cx="1076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16675"/>
                </a:solidFill>
              </a:defRPr>
            </a:defPPr>
            <a:lvl1pPr>
              <a:defRPr sz="975" b="1">
                <a:solidFill>
                  <a:srgbClr val="516675"/>
                </a:solidFill>
              </a:defRPr>
            </a:lvl1pPr>
            <a:lvl2pPr>
              <a:defRPr sz="975" b="1">
                <a:solidFill>
                  <a:srgbClr val="516675"/>
                </a:solidFill>
              </a:defRPr>
            </a:lvl2pPr>
            <a:lvl3pPr>
              <a:defRPr sz="975" b="1">
                <a:solidFill>
                  <a:srgbClr val="516675"/>
                </a:solidFill>
              </a:defRPr>
            </a:lvl3pPr>
            <a:lvl4pPr>
              <a:defRPr sz="975" b="1">
                <a:solidFill>
                  <a:srgbClr val="516675"/>
                </a:solidFill>
              </a:defRPr>
            </a:lvl4pPr>
            <a:lvl5pPr>
              <a:defRPr sz="975" b="1">
                <a:solidFill>
                  <a:srgbClr val="516675"/>
                </a:solidFill>
              </a:defRPr>
            </a:lvl5pPr>
            <a:lvl6pPr>
              <a:defRPr sz="975" b="1">
                <a:solidFill>
                  <a:srgbClr val="516675"/>
                </a:solidFill>
              </a:defRPr>
            </a:lvl6pPr>
            <a:lvl7pPr>
              <a:defRPr sz="975" b="1">
                <a:solidFill>
                  <a:srgbClr val="516675"/>
                </a:solidFill>
              </a:defRPr>
            </a:lvl7pPr>
            <a:lvl8pPr>
              <a:defRPr sz="975" b="1">
                <a:solidFill>
                  <a:srgbClr val="516675"/>
                </a:solidFill>
              </a:defRPr>
            </a:lvl8pPr>
            <a:lvl9pPr>
              <a:defRPr sz="975" b="1">
                <a:solidFill>
                  <a:srgbClr val="516675"/>
                </a:solidFill>
              </a:defRPr>
            </a:lvl9pPr>
          </a:lstStyle>
          <a:p xmlns:a="http://schemas.openxmlformats.org/drawingml/2006/main">
            <a:pPr>
              <a:defRPr sz="975" b="1">
                <a:solidFill>
                  <a:srgbClr val="516675"/>
                </a:solidFill>
              </a:defRPr>
            </a:pPr>
            <a:r>
              <a:rPr sz="975" b="1">
                <a:solidFill>
                  <a:srgbClr val="516675"/>
                </a:solidFill>
              </a:rPr>
              <a:t>DEALER ACTION PLANNER   •   SIMULATED DATA                                      4 / 4</a:t>
            </a:r>
          </a:p>
        </p:txBody>
      </p:sp>
      <p:sp>
        <p:nvSpPr>
          <p:cNvPr id="3" name="">
            <a:extLst xmlns:a="http://schemas.openxmlformats.org/drawingml/2006/main">
              <a:ext uri="{FF2B5EF4-FFF2-40B4-BE49-F238E27FC236}">
                <a16:creationId xmlns:a16="http://schemas.microsoft.com/office/drawing/2014/main" id="{96546309-5489-4404-89F5-278B547DCEFF}"/>
              </a:ext>
            </a:extLst>
          </p:cNvPr>
          <p:cNvSpPr>
            <a:spLocks xmlns:a="http://schemas.openxmlformats.org/drawingml/2006/main" noGrp="1"/>
          </p:cNvSpPr>
          <p:nvPr/>
        </p:nvSpPr>
        <p:spPr>
          <a:xfrm xmlns:a="http://schemas.openxmlformats.org/drawingml/2006/main">
            <a:off x="571500" y="1238250"/>
            <a:ext cx="3286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02D4A"/>
                </a:solidFill>
              </a:defRPr>
            </a:defPPr>
            <a:lvl1pPr>
              <a:defRPr sz="1875" b="1">
                <a:solidFill>
                  <a:srgbClr val="102D4A"/>
                </a:solidFill>
              </a:defRPr>
            </a:lvl1pPr>
            <a:lvl2pPr>
              <a:defRPr sz="1875" b="1">
                <a:solidFill>
                  <a:srgbClr val="102D4A"/>
                </a:solidFill>
              </a:defRPr>
            </a:lvl2pPr>
            <a:lvl3pPr>
              <a:defRPr sz="1875" b="1">
                <a:solidFill>
                  <a:srgbClr val="102D4A"/>
                </a:solidFill>
              </a:defRPr>
            </a:lvl3pPr>
            <a:lvl4pPr>
              <a:defRPr sz="1875" b="1">
                <a:solidFill>
                  <a:srgbClr val="102D4A"/>
                </a:solidFill>
              </a:defRPr>
            </a:lvl4pPr>
            <a:lvl5pPr>
              <a:defRPr sz="1875" b="1">
                <a:solidFill>
                  <a:srgbClr val="102D4A"/>
                </a:solidFill>
              </a:defRPr>
            </a:lvl5pPr>
            <a:lvl6pPr>
              <a:defRPr sz="1875" b="1">
                <a:solidFill>
                  <a:srgbClr val="102D4A"/>
                </a:solidFill>
              </a:defRPr>
            </a:lvl6pPr>
            <a:lvl7pPr>
              <a:defRPr sz="1875" b="1">
                <a:solidFill>
                  <a:srgbClr val="102D4A"/>
                </a:solidFill>
              </a:defRPr>
            </a:lvl7pPr>
            <a:lvl8pPr>
              <a:defRPr sz="1875" b="1">
                <a:solidFill>
                  <a:srgbClr val="102D4A"/>
                </a:solidFill>
              </a:defRPr>
            </a:lvl8pPr>
            <a:lvl9pPr>
              <a:defRPr sz="1875" b="1">
                <a:solidFill>
                  <a:srgbClr val="102D4A"/>
                </a:solidFill>
              </a:defRPr>
            </a:lvl9pPr>
          </a:lstStyle>
          <a:p xmlns:a="http://schemas.openxmlformats.org/drawingml/2006/main">
            <a:pPr>
              <a:defRPr sz="1875" b="1">
                <a:solidFill>
                  <a:srgbClr val="102D4A"/>
                </a:solidFill>
              </a:defRPr>
            </a:pPr>
            <a:r>
              <a:rPr sz="1875" b="1">
                <a:solidFill>
                  <a:srgbClr val="102D4A"/>
                </a:solidFill>
              </a:rPr>
              <a:t>Better than they look</a:t>
            </a:r>
          </a:p>
          <a:p xmlns:a="http://schemas.openxmlformats.org/drawingml/2006/main">
            <a:pPr>
              <a:defRPr sz="1875" b="1">
                <a:solidFill>
                  <a:srgbClr val="102D4A"/>
                </a:solidFill>
              </a:defRPr>
            </a:pPr>
            <a:r>
              <a:rPr sz="1875" b="1">
                <a:solidFill>
                  <a:srgbClr val="102D4A"/>
                </a:solidFill>
              </a:rPr>
              <a:t>Room to grow</a:t>
            </a:r>
          </a:p>
          <a:p xmlns:a="http://schemas.openxmlformats.org/drawingml/2006/main">
            <a:pPr>
              <a:defRPr sz="1875" b="1">
                <a:solidFill>
                  <a:srgbClr val="102D4A"/>
                </a:solidFill>
              </a:defRPr>
            </a:pPr>
            <a:r>
              <a:rPr sz="1875" b="1">
                <a:solidFill>
                  <a:srgbClr val="102D4A"/>
                </a:solidFill>
              </a:rPr>
              <a:t>Stars</a:t>
            </a:r>
          </a:p>
        </p:txBody>
      </p:sp>
      <p:sp>
        <p:nvSpPr>
          <p:cNvPr id="4" name="">
            <a:extLst xmlns:a="http://schemas.openxmlformats.org/drawingml/2006/main">
              <a:ext uri="{FF2B5EF4-FFF2-40B4-BE49-F238E27FC236}">
                <a16:creationId xmlns:a16="http://schemas.microsoft.com/office/drawing/2014/main" id="{605A7CCD-394A-4031-8E59-43ECA7FDDF9B}"/>
              </a:ext>
            </a:extLst>
          </p:cNvPr>
          <p:cNvSpPr>
            <a:spLocks xmlns:a="http://schemas.openxmlformats.org/drawingml/2006/main" noGrp="1"/>
          </p:cNvSpPr>
          <p:nvPr/>
        </p:nvSpPr>
        <p:spPr>
          <a:xfrm xmlns:a="http://schemas.openxmlformats.org/drawingml/2006/main">
            <a:off x="571500" y="2714625"/>
            <a:ext cx="323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92B37"/>
                </a:solidFill>
              </a:defRPr>
            </a:defPPr>
            <a:lvl1pPr>
              <a:defRPr sz="1650" b="0">
                <a:solidFill>
                  <a:srgbClr val="192B37"/>
                </a:solidFill>
              </a:defRPr>
            </a:lvl1pPr>
            <a:lvl2pPr>
              <a:defRPr sz="1650" b="0">
                <a:solidFill>
                  <a:srgbClr val="192B37"/>
                </a:solidFill>
              </a:defRPr>
            </a:lvl2pPr>
            <a:lvl3pPr>
              <a:defRPr sz="1650" b="0">
                <a:solidFill>
                  <a:srgbClr val="192B37"/>
                </a:solidFill>
              </a:defRPr>
            </a:lvl3pPr>
            <a:lvl4pPr>
              <a:defRPr sz="1650" b="0">
                <a:solidFill>
                  <a:srgbClr val="192B37"/>
                </a:solidFill>
              </a:defRPr>
            </a:lvl4pPr>
            <a:lvl5pPr>
              <a:defRPr sz="1650" b="0">
                <a:solidFill>
                  <a:srgbClr val="192B37"/>
                </a:solidFill>
              </a:defRPr>
            </a:lvl5pPr>
            <a:lvl6pPr>
              <a:defRPr sz="1650" b="0">
                <a:solidFill>
                  <a:srgbClr val="192B37"/>
                </a:solidFill>
              </a:defRPr>
            </a:lvl6pPr>
            <a:lvl7pPr>
              <a:defRPr sz="1650" b="0">
                <a:solidFill>
                  <a:srgbClr val="192B37"/>
                </a:solidFill>
              </a:defRPr>
            </a:lvl7pPr>
            <a:lvl8pPr>
              <a:defRPr sz="1650" b="0">
                <a:solidFill>
                  <a:srgbClr val="192B37"/>
                </a:solidFill>
              </a:defRPr>
            </a:lvl8pPr>
            <a:lvl9pPr>
              <a:defRPr sz="1650" b="0">
                <a:solidFill>
                  <a:srgbClr val="192B37"/>
                </a:solidFill>
              </a:defRPr>
            </a:lvl9pPr>
          </a:lstStyle>
          <a:p xmlns:a="http://schemas.openxmlformats.org/drawingml/2006/main">
            <a:pPr>
              <a:defRPr sz="1650" b="0">
                <a:solidFill>
                  <a:srgbClr val="192B37"/>
                </a:solidFill>
              </a:defRPr>
            </a:pPr>
            <a:r>
              <a:rPr sz="1650" b="0">
                <a:solidFill>
                  <a:srgbClr val="192B37"/>
                </a:solidFill>
              </a:rPr>
              <a:t>A market dip, disputed invoices or a new outlet can explain an apparent shortfall.</a:t>
            </a:r>
          </a:p>
        </p:txBody>
      </p:sp>
      <p:sp>
        <p:nvSpPr>
          <p:cNvPr id="5" name="">
            <a:extLst xmlns:a="http://schemas.openxmlformats.org/drawingml/2006/main">
              <a:ext uri="{FF2B5EF4-FFF2-40B4-BE49-F238E27FC236}">
                <a16:creationId xmlns:a16="http://schemas.microsoft.com/office/drawing/2014/main" id="{B4AB5EB5-2827-4ABF-A211-2CCA8951A281}"/>
              </a:ext>
            </a:extLst>
          </p:cNvPr>
          <p:cNvSpPr>
            <a:spLocks xmlns:a="http://schemas.openxmlformats.org/drawingml/2006/main" noGrp="1"/>
          </p:cNvSpPr>
          <p:nvPr/>
        </p:nvSpPr>
        <p:spPr>
          <a:xfrm xmlns:a="http://schemas.openxmlformats.org/drawingml/2006/main">
            <a:off x="571500" y="4257675"/>
            <a:ext cx="3286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7C82"/>
                </a:solidFill>
              </a:defRPr>
            </a:defPPr>
            <a:lvl1pPr>
              <a:defRPr sz="1575" b="0">
                <a:solidFill>
                  <a:srgbClr val="247C82"/>
                </a:solidFill>
              </a:defRPr>
            </a:lvl1pPr>
            <a:lvl2pPr>
              <a:defRPr sz="1575" b="0">
                <a:solidFill>
                  <a:srgbClr val="247C82"/>
                </a:solidFill>
              </a:defRPr>
            </a:lvl2pPr>
            <a:lvl3pPr>
              <a:defRPr sz="1575" b="0">
                <a:solidFill>
                  <a:srgbClr val="247C82"/>
                </a:solidFill>
              </a:defRPr>
            </a:lvl3pPr>
            <a:lvl4pPr>
              <a:defRPr sz="1575" b="0">
                <a:solidFill>
                  <a:srgbClr val="247C82"/>
                </a:solidFill>
              </a:defRPr>
            </a:lvl4pPr>
            <a:lvl5pPr>
              <a:defRPr sz="1575" b="0">
                <a:solidFill>
                  <a:srgbClr val="247C82"/>
                </a:solidFill>
              </a:defRPr>
            </a:lvl5pPr>
            <a:lvl6pPr>
              <a:defRPr sz="1575" b="0">
                <a:solidFill>
                  <a:srgbClr val="247C82"/>
                </a:solidFill>
              </a:defRPr>
            </a:lvl6pPr>
            <a:lvl7pPr>
              <a:defRPr sz="1575" b="0">
                <a:solidFill>
                  <a:srgbClr val="247C82"/>
                </a:solidFill>
              </a:defRPr>
            </a:lvl7pPr>
            <a:lvl8pPr>
              <a:defRPr sz="1575" b="0">
                <a:solidFill>
                  <a:srgbClr val="247C82"/>
                </a:solidFill>
              </a:defRPr>
            </a:lvl8pPr>
            <a:lvl9pPr>
              <a:defRPr sz="1575" b="0">
                <a:solidFill>
                  <a:srgbClr val="247C82"/>
                </a:solidFill>
              </a:defRPr>
            </a:lvl9pPr>
          </a:lstStyle>
          <a:p xmlns:a="http://schemas.openxmlformats.org/drawingml/2006/main">
            <a:pPr>
              <a:defRPr sz="1575" b="0">
                <a:solidFill>
                  <a:srgbClr val="247C82"/>
                </a:solidFill>
              </a:defRPr>
            </a:pPr>
            <a:r>
              <a:rPr sz="1575" b="0">
                <a:solidFill>
                  <a:srgbClr val="247C82"/>
                </a:solidFill>
              </a:rPr>
              <a:t>Value: managers spend time on the right cases. Limit: all data and thresholds are simulated and need real validation.</a:t>
            </a:r>
          </a:p>
        </p:txBody>
      </p:sp>
      <p:pic>
        <p:nvPicPr>
          <p:cNvPr id="6" name="">
            <a:extLst xmlns:a="http://schemas.openxmlformats.org/drawingml/2006/main">
              <a:ext uri="{FF2B5EF4-FFF2-40B4-BE49-F238E27FC236}">
                <a16:creationId xmlns:a16="http://schemas.microsoft.com/office/drawing/2014/main" id="{66015B89-4151-4E76-B079-72A680207CC3}"/>
              </a:ext>
            </a:extLst>
          </p:cNvPr>
          <p:cNvPicPr>
            <a:picLocks xmlns:a="http://schemas.openxmlformats.org/drawingml/2006/main" noChangeAspect="1"/>
          </p:cNvPicPr>
          <p:nvPr/>
        </p:nvPicPr>
        <p:blipFill>
          <a:blip xmlns:r="http://schemas.openxmlformats.org/officeDocument/2006/relationships" xmlns:a="http://schemas.openxmlformats.org/drawingml/2006/main" r:embed="Rc3c46af2e32942b6"/>
          <a:stretch xmlns:a="http://schemas.openxmlformats.org/drawingml/2006/main"/>
        </p:blipFill>
        <p:spPr>
          <a:xfrm xmlns:a="http://schemas.openxmlformats.org/drawingml/2006/main">
            <a:off x="4143375" y="1292322"/>
            <a:ext cx="7524750" cy="398760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79F442F-A731-4C11-8014-488BA07E8213}"/>
              </a:ext>
            </a:extLst>
          </p:cNvPr>
          <p:cNvSpPr>
            <a:spLocks xmlns:a="http://schemas.openxmlformats.org/drawingml/2006/main" noGrp="1"/>
          </p:cNvSpPr>
          <p:nvPr/>
        </p:nvSpPr>
        <p:spPr>
          <a:xfrm xmlns:a="http://schemas.openxmlformats.org/drawingml/2006/main">
            <a:off x="4143375" y="5543550"/>
            <a:ext cx="752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247C82"/>
                </a:solidFill>
              </a:defRPr>
            </a:defPPr>
            <a:lvl1pPr>
              <a:defRPr sz="1575" b="1">
                <a:solidFill>
                  <a:srgbClr val="247C82"/>
                </a:solidFill>
              </a:defRPr>
            </a:lvl1pPr>
            <a:lvl2pPr>
              <a:defRPr sz="1575" b="1">
                <a:solidFill>
                  <a:srgbClr val="247C82"/>
                </a:solidFill>
              </a:defRPr>
            </a:lvl2pPr>
            <a:lvl3pPr>
              <a:defRPr sz="1575" b="1">
                <a:solidFill>
                  <a:srgbClr val="247C82"/>
                </a:solidFill>
              </a:defRPr>
            </a:lvl3pPr>
            <a:lvl4pPr>
              <a:defRPr sz="1575" b="1">
                <a:solidFill>
                  <a:srgbClr val="247C82"/>
                </a:solidFill>
              </a:defRPr>
            </a:lvl4pPr>
            <a:lvl5pPr>
              <a:defRPr sz="1575" b="1">
                <a:solidFill>
                  <a:srgbClr val="247C82"/>
                </a:solidFill>
              </a:defRPr>
            </a:lvl5pPr>
            <a:lvl6pPr>
              <a:defRPr sz="1575" b="1">
                <a:solidFill>
                  <a:srgbClr val="247C82"/>
                </a:solidFill>
              </a:defRPr>
            </a:lvl6pPr>
            <a:lvl7pPr>
              <a:defRPr sz="1575" b="1">
                <a:solidFill>
                  <a:srgbClr val="247C82"/>
                </a:solidFill>
              </a:defRPr>
            </a:lvl7pPr>
            <a:lvl8pPr>
              <a:defRPr sz="1575" b="1">
                <a:solidFill>
                  <a:srgbClr val="247C82"/>
                </a:solidFill>
              </a:defRPr>
            </a:lvl8pPr>
            <a:lvl9pPr>
              <a:defRPr sz="1575" b="1">
                <a:solidFill>
                  <a:srgbClr val="247C82"/>
                </a:solidFill>
              </a:defRPr>
            </a:lvl9pPr>
          </a:lstStyle>
          <a:p xmlns:a="http://schemas.openxmlformats.org/drawingml/2006/main">
            <a:pPr>
              <a:defRPr sz="1575" b="1">
                <a:solidFill>
                  <a:srgbClr val="247C82"/>
                </a:solidFill>
              </a:defRPr>
            </a:pPr>
            <a:r>
              <a:rPr sz="1575" b="1">
                <a:solidFill>
                  <a:srgbClr val="247C82"/>
                </a:solidFill>
              </a:rPr>
              <a:t>Context check → support opportunity → routine monitoring</a:t>
            </a:r>
          </a:p>
        </p:txBody>
      </p:sp>
    </p:spTree>
    <p:extLst>
      <p:ext uri="{BB962C8B-B14F-4D97-AF65-F5344CB8AC3E}">
        <p14:creationId xmlns:p14="http://schemas.microsoft.com/office/powerpoint/2010/main" val="691738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2026-10-28T19:31:34.3720000Z</dcterms:created>
  <dcterms:modified xsi:type="dcterms:W3CDTF">2026-10-28T19:31:34.3720000Z</dcterms:modified>
</coreProperties>
</file>